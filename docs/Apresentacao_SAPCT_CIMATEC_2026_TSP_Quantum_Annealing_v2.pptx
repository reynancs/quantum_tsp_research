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6" r:id="rId5"/>
    <p:sldId id="257" r:id="rId7"/>
    <p:sldId id="258" r:id="rId6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embeddedFontLst>
    <p:embeddedFont>
      <p:font typeface="Play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Lauria da Cruz" userId="e5c136e4-ecda-4537-a4b7-e07e6dac5500" providerId="ADAL" clId="{599CCA62-F4B3-4706-9835-C2C41B290946}"/>
    <pc:docChg chg="custSel modSld">
      <pc:chgData name="Gabriel Lauria da Cruz" userId="e5c136e4-ecda-4537-a4b7-e07e6dac5500" providerId="ADAL" clId="{599CCA62-F4B3-4706-9835-C2C41B290946}" dt="2026-02-11T13:06:22.146" v="7" actId="34135"/>
      <pc:docMkLst>
        <pc:docMk/>
      </pc:docMkLst>
      <pc:sldChg chg="addSp delSp modSp mod">
        <pc:chgData name="Gabriel Lauria da Cruz" userId="e5c136e4-ecda-4537-a4b7-e07e6dac5500" providerId="ADAL" clId="{599CCA62-F4B3-4706-9835-C2C41B290946}" dt="2026-02-11T13:06:22.146" v="7" actId="34135"/>
        <pc:sldMkLst>
          <pc:docMk/>
          <pc:sldMk cId="0" sldId="256"/>
        </pc:sldMkLst>
        <pc:picChg chg="add mod">
          <ac:chgData name="Gabriel Lauria da Cruz" userId="e5c136e4-ecda-4537-a4b7-e07e6dac5500" providerId="ADAL" clId="{599CCA62-F4B3-4706-9835-C2C41B290946}" dt="2026-02-11T13:06:22.146" v="7" actId="34135"/>
          <ac:picMkLst>
            <pc:docMk/>
            <pc:sldMk cId="0" sldId="256"/>
            <ac:picMk id="3" creationId="{4CB6D6F4-75FC-907B-F8E0-E8681A058672}"/>
          </ac:picMkLst>
        </pc:picChg>
        <pc:picChg chg="del">
          <ac:chgData name="Gabriel Lauria da Cruz" userId="e5c136e4-ecda-4537-a4b7-e07e6dac5500" providerId="ADAL" clId="{599CCA62-F4B3-4706-9835-C2C41B290946}" dt="2026-02-11T13:06:14.774" v="0" actId="478"/>
          <ac:picMkLst>
            <pc:docMk/>
            <pc:sldMk cId="0" sldId="256"/>
            <ac:picMk id="84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Abertura (~20s). Apresentar titulo, autores e a natureza do trabalho: revisao exploratoria da literatura.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Resumo (~50s). Dar a visao geral: problema (TSP NP-Hard), tecnologia (QA), metodo (26 strings -&gt; 3.696 artigos) e o achado central (QA dominante; lacunas gate-based e QML).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Introducao (~90s). Esquerda: por que o TSP importa (NP-Hard, logistica, TSPTW). Direita: por que a computacao quantica/QA e uma alternativa (QUBO, D-Wave, Salehi 2022). Fechar lendo o objetivo da revisao.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Metodologia (~90s). Tres eixos tematicos cruzados em 26 strings no Lens.org, priorizadas e aplicadas em duas fases. Deduplicacao por DOI e titulo. O grafico mostra a contribuicao de cada string.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Resultados 1 (~70s). De 5.320 registros brutos para 3.696 unicos. 61,7% pos-2020, pico em 2025: campo em franca expansao. 49 paises e 82,8% de acesso aberto reforcam alcance global e reprodutibilidade.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Resultados 2 (~80s). QA domina (&gt;1.200 artigos; D-Wave Advantage). Gate-based (QAOA/VQE) ainda incipiente (~150). Taxonomia: 40+ algoritmos em 6 categorias; a maioria das implementacoes e hibrida.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Resultados 3 (~60s). Quatro lacunas: gate-based escalavel, QRL para roteamento (21), CVRP com QA (18) e validacao com dados reais. Sao oportunidades concretas de contribuicao.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Consideracoes finais (~60s). Sintetizar: campo em expansao, QA maduro, variacionais/QML como fronteiras. Apresentar as tres proximas etapas da pesquisa de mestrado.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Agradecimentos (~20s). Reconhecer o fomento: QuIIN, EMBRAPII CIMATEC, MCTI e CNPq.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Referencias (~20s). Destacar as obras-chave: Kadowaki &amp; Nishimori (fundamento do QA), Salehi et al. (QUBO para TSPTW) e Phillipson (base da segunda fase de busca).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Encerramento (~10s). Agradecer e abrir para perguntas.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9B0328F-7C3F-ED75-D32E-FCEA6CD96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0"/>
            <a:ext cx="54864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30352"/>
            <a:ext cx="2505684" cy="1417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" y="2048256"/>
            <a:ext cx="7315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REVISÃO EXPLORATÓRIA DA LITERATURA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414016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E2841"/>
                </a:solidFill>
                <a:latin typeface="Arial"/>
                <a:cs typeface="Arial"/>
              </a:rPr>
              <a:t>Aplicação de Quantum Annealing ao Problema do Caixeiro Viajante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 i="1">
                <a:solidFill>
                  <a:srgbClr val="2E5C8A"/>
                </a:solidFill>
                <a:latin typeface="Arial"/>
                <a:cs typeface="Arial"/>
              </a:rPr>
              <a:t>Revisão exploratória da literatura em logística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23360"/>
            <a:ext cx="100584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2245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2B2B"/>
                </a:solidFill>
                <a:latin typeface="Arial"/>
                <a:cs typeface="Arial"/>
              </a:rPr>
              <a:t>Renan Cardoso dos Santos</a:t>
            </a:r>
            <a:r>
              <a:rPr sz="1200" b="1" i="0">
                <a:solidFill>
                  <a:srgbClr val="156082"/>
                </a:solidFill>
                <a:latin typeface="Arial"/>
                <a:cs typeface="Arial"/>
              </a:rPr>
              <a:t>¹     </a:t>
            </a:r>
            <a:r>
              <a:rPr sz="1600" b="1" i="0">
                <a:solidFill>
                  <a:srgbClr val="2B2B2B"/>
                </a:solidFill>
                <a:latin typeface="Arial"/>
                <a:cs typeface="Arial"/>
              </a:rPr>
              <a:t>Valéria Loureiro da Silva</a:t>
            </a:r>
            <a:r>
              <a:rPr sz="1200" b="1" i="0">
                <a:solidFill>
                  <a:srgbClr val="156082"/>
                </a:solidFill>
                <a:latin typeface="Arial"/>
                <a:cs typeface="Arial"/>
              </a:rPr>
              <a:t>²     </a:t>
            </a:r>
            <a:r>
              <a:rPr sz="1600" b="1" i="0">
                <a:solidFill>
                  <a:srgbClr val="2B2B2B"/>
                </a:solidFill>
                <a:latin typeface="Arial"/>
                <a:cs typeface="Arial"/>
              </a:rPr>
              <a:t>Anderson Rafael Correia B. da Silva</a:t>
            </a:r>
            <a:r>
              <a:rPr sz="1200" b="1" i="0">
                <a:solidFill>
                  <a:srgbClr val="156082"/>
                </a:solidFill>
                <a:latin typeface="Arial"/>
                <a:cs typeface="Arial"/>
              </a:rPr>
              <a:t>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608576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E6670"/>
                </a:solidFill>
                <a:latin typeface="Arial"/>
                <a:cs typeface="Arial"/>
              </a:rPr>
              <a:t>¹ Mestrando em Gestão de Tecnologia e Inovação — Universidade SENAI CIMATEC, Salvador-BA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E6670"/>
                </a:solidFill>
                <a:latin typeface="Arial"/>
                <a:cs typeface="Arial"/>
              </a:rPr>
              <a:t>² ³ Universidade SENAI CIMATEC, Salvador-BA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5449824"/>
            <a:ext cx="8229600" cy="621792"/>
          </a:xfrm>
          <a:prstGeom prst="roundRect">
            <a:avLst>
              <a:gd name="adj" fmla="val 16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449824"/>
            <a:ext cx="7863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56082"/>
                </a:solidFill>
                <a:latin typeface="Arial"/>
                <a:cs typeface="Arial"/>
              </a:rPr>
              <a:t>Palavras-chave:  </a:t>
            </a:r>
            <a:r>
              <a:rPr sz="1300" b="0" i="0">
                <a:solidFill>
                  <a:srgbClr val="2B2B2B"/>
                </a:solidFill>
                <a:latin typeface="Arial"/>
                <a:cs typeface="Arial"/>
              </a:rPr>
              <a:t>TSP · Quantum Annealing · Otimização Combinatória · Logística</a:t>
            </a:r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987" y="5285232"/>
            <a:ext cx="2099733" cy="9143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112" y="62727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E6670"/>
                </a:solidFill>
                <a:latin typeface="Arial"/>
                <a:cs typeface="Arial"/>
              </a:rPr>
              <a:t>XI Seminário de Avaliação de Pesquisa Científica e Tecnológica — SAPCT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47472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Síntese do trabalho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810512"/>
            <a:ext cx="65836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O TSP é um problema de otimização combinatória NP-Hard, de grande relevância para a logística.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O Quantum Annealing (QA) destaca-se como abordagem promissora frente à complexidade computacional do problema.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Revisão exploratória da literatura: 26 strings de busca na base Lens.org resultaram em 3.696 artigos únicos.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O QA é o paradigma dominante, com destaque para a plataforma D-Wave.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Há lacunas em abordagens gate-based e em aprendizado de máquina quântico para roteamento logístico.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810512"/>
            <a:ext cx="4178808" cy="1298448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1810512"/>
            <a:ext cx="73152" cy="1298448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1920240"/>
            <a:ext cx="384962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2841"/>
                </a:solidFill>
                <a:latin typeface="Arial"/>
                <a:cs typeface="Arial"/>
              </a:rPr>
              <a:t>3.696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2505456"/>
            <a:ext cx="38496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E6670"/>
                </a:solidFill>
                <a:latin typeface="Arial"/>
                <a:cs typeface="Arial"/>
              </a:rPr>
              <a:t>Artigos únicos analisados (após deduplicação)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236976"/>
            <a:ext cx="4178808" cy="1298448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640" y="3236976"/>
            <a:ext cx="73152" cy="1298448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8" y="3346704"/>
            <a:ext cx="384962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2841"/>
                </a:solidFill>
                <a:latin typeface="Arial"/>
                <a:cs typeface="Arial"/>
              </a:rP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3931920"/>
            <a:ext cx="38496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E6670"/>
                </a:solidFill>
                <a:latin typeface="Arial"/>
                <a:cs typeface="Arial"/>
              </a:rPr>
              <a:t>Strings de busca executadas na base Lens.org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4846320"/>
            <a:ext cx="10981944" cy="713232"/>
          </a:xfrm>
          <a:prstGeom prst="roundRect">
            <a:avLst>
              <a:gd name="adj" fmla="val 1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424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B7FB5"/>
                </a:solidFill>
                <a:latin typeface="Arial"/>
                <a:cs typeface="Arial"/>
              </a:rPr>
              <a:t>Palavras-chave:   </a:t>
            </a:r>
            <a:r>
              <a:rPr sz="1400" b="0" i="0">
                <a:solidFill>
                  <a:srgbClr val="FFFFFF"/>
                </a:solidFill>
                <a:latin typeface="Arial"/>
                <a:cs typeface="Arial"/>
              </a:rPr>
              <a:t>Problema do Caixeiro Viajante  ·  Quantum Annealing  ·  Otimização Combinatória  ·  Logística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47472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Contexto e objetivo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755648"/>
            <a:ext cx="5458968" cy="2670048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755648"/>
            <a:ext cx="5458968" cy="731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202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841"/>
                </a:solidFill>
                <a:latin typeface="Arial"/>
                <a:cs typeface="Arial"/>
              </a:rPr>
              <a:t>O 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359152"/>
            <a:ext cx="495604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TSP: rota de menor custo que visita cada cidade uma vez e retorna à origem — classificado como NP-Hard.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Relevância logística direta: otimizar rotas reduz custos operacionais e eleva a eficiência.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TSPTW: variante com janelas de tempo, próxima de cenários reais de distribuição e roteamento.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55648"/>
            <a:ext cx="5440680" cy="2670048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755648"/>
            <a:ext cx="5440680" cy="731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A tecnologia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59152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5B7FB5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DDE6EF"/>
                </a:solidFill>
                <a:latin typeface="Arial"/>
                <a:cs typeface="Arial"/>
              </a:rPr>
              <a:t>Computação quântica explora o espaço de soluções de forma mais eficiente que métodos clássicos.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5B7FB5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DDE6EF"/>
                </a:solidFill>
                <a:latin typeface="Arial"/>
                <a:cs typeface="Arial"/>
              </a:rPr>
              <a:t>Quantum Annealing: tunelamento quântico para o estado de menor energia; formulação QUBO; hardware D-Wave.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5B7FB5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DDE6EF"/>
                </a:solidFill>
                <a:latin typeface="Arial"/>
                <a:cs typeface="Arial"/>
              </a:rPr>
              <a:t>Salehi, Glos e Miszczak (2022): três formulações QUBO para o TSPTW.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4572000"/>
            <a:ext cx="10981944" cy="1298448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" y="4572000"/>
            <a:ext cx="91440" cy="12984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700016"/>
            <a:ext cx="10424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OBJETIVO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992624"/>
            <a:ext cx="1042416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Realizar uma revisão exploratória da literatura sobre a aplicação de algoritmos quânticos, com ênfase em Quantum Annealing, ao TSP e suas variantes em logística — mapeando o volume de produção, os algoritmos mais utilizados e as lacunas de pesquisa.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47472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Como a literatura foi mapeada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5C8A"/>
                </a:solidFill>
                <a:latin typeface="Arial"/>
                <a:cs typeface="Arial"/>
              </a:rPr>
              <a:t>Pesquisa bibliográfica exploratória em três eixos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157984"/>
            <a:ext cx="5532120" cy="676656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" y="2157984"/>
            <a:ext cx="73152" cy="67665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157984"/>
            <a:ext cx="17556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Arial"/>
                <a:cs typeface="Arial"/>
              </a:rPr>
              <a:t>1 · O problema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157984"/>
            <a:ext cx="33467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E6670"/>
                </a:solidFill>
                <a:latin typeface="Arial"/>
                <a:cs typeface="Arial"/>
              </a:rPr>
              <a:t>TSP e variantes — VRP, CVRP, Job Shop Scheduling, Bin Packing.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2944368"/>
            <a:ext cx="5532120" cy="676656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" y="2944368"/>
            <a:ext cx="73152" cy="67665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944368"/>
            <a:ext cx="17556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Arial"/>
                <a:cs typeface="Arial"/>
              </a:rPr>
              <a:t>2 · A tecnologia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2944368"/>
            <a:ext cx="33467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E6670"/>
                </a:solidFill>
                <a:latin typeface="Arial"/>
                <a:cs typeface="Arial"/>
              </a:rPr>
              <a:t>Paradigmas quânticos — QA, QAOA, VQE, Grover, QUBO/Ising.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730752"/>
            <a:ext cx="5532120" cy="676656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" y="3730752"/>
            <a:ext cx="73152" cy="67665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730752"/>
            <a:ext cx="17556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Arial"/>
                <a:cs typeface="Arial"/>
              </a:rPr>
              <a:t>3 · A aplicação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730752"/>
            <a:ext cx="33467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E6670"/>
                </a:solidFill>
                <a:latin typeface="Arial"/>
                <a:cs typeface="Arial"/>
              </a:rPr>
              <a:t>Logística, cadeia de suprimentos e otimização de rotas.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4681728"/>
            <a:ext cx="5532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26 strings de busca (operador AND) na base Lens.org; prioridades 8 Alta · 10 Média · 8 Baixa.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Duas fases: 16 strings iniciais + 10 derivadas de Phillipson (2025).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Deduplicação em duas etapas: por DOI e por título normalizado.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1700784"/>
            <a:ext cx="5257800" cy="41605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strings_busca_01_volume_str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06276"/>
            <a:ext cx="5111496" cy="28752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27648" y="5504688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E6670"/>
                </a:solidFill>
                <a:latin typeface="Arial"/>
                <a:cs typeface="Arial"/>
              </a:rPr>
              <a:t>Volume de artigos únicos recuperados por string de busca.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47472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RESULTADOS E DISCUSSÃO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Panorama: um campo em expansão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773936"/>
            <a:ext cx="2670048" cy="1243584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773936"/>
            <a:ext cx="73152" cy="1243584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883664"/>
            <a:ext cx="23408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2841"/>
                </a:solidFill>
                <a:latin typeface="Arial"/>
                <a:cs typeface="Arial"/>
              </a:rPr>
              <a:t>3.696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14016"/>
            <a:ext cx="234086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E6670"/>
                </a:solidFill>
                <a:latin typeface="Arial"/>
                <a:cs typeface="Arial"/>
              </a:rPr>
              <a:t>Artigos únicos (de 5.320 brutos — 30,5% duplicatas)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6996" y="1773936"/>
            <a:ext cx="2670048" cy="1243584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96996" y="1773936"/>
            <a:ext cx="73152" cy="1243584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8164" y="1883664"/>
            <a:ext cx="23408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2841"/>
                </a:solidFill>
                <a:latin typeface="Arial"/>
                <a:cs typeface="Arial"/>
              </a:rPr>
              <a:t>61,7%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8164" y="2414016"/>
            <a:ext cx="234086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E6670"/>
                </a:solidFill>
                <a:latin typeface="Arial"/>
                <a:cs typeface="Arial"/>
              </a:rPr>
              <a:t>Publicados a partir de 2020 — pico em 2025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1773936"/>
            <a:ext cx="2670048" cy="1243584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0488" y="1773936"/>
            <a:ext cx="73152" cy="1243584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1883664"/>
            <a:ext cx="23408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2841"/>
                </a:solidFill>
                <a:latin typeface="Arial"/>
                <a:cs typeface="Arial"/>
              </a:rPr>
              <a:t>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414016"/>
            <a:ext cx="234086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E6670"/>
                </a:solidFill>
                <a:latin typeface="Arial"/>
                <a:cs typeface="Arial"/>
              </a:rPr>
              <a:t>Países representados na produção científica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3980" y="1773936"/>
            <a:ext cx="2670048" cy="1243584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83980" y="1773936"/>
            <a:ext cx="73152" cy="1243584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5148" y="1883664"/>
            <a:ext cx="23408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2841"/>
                </a:solidFill>
                <a:latin typeface="Arial"/>
                <a:cs typeface="Arial"/>
              </a:rPr>
              <a:t>82,8%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5148" y="2414016"/>
            <a:ext cx="234086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E6670"/>
                </a:solidFill>
                <a:latin typeface="Arial"/>
                <a:cs typeface="Arial"/>
              </a:rPr>
              <a:t>Artigos em acesso aberto (Open Access)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3182112"/>
            <a:ext cx="10981944" cy="239572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1_visao_geral_01_publicacoes_tem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524" y="3255264"/>
            <a:ext cx="3803904" cy="21396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3504" y="5522976"/>
            <a:ext cx="1098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E6670"/>
                </a:solidFill>
                <a:latin typeface="Arial"/>
                <a:cs typeface="Arial"/>
              </a:rPr>
              <a:t>Publicações ao longo do tempo — forte aceleração a partir de 2020. Produção globalmente distribuída e com forte adesão à ciência aberta, o que favorece a reprodutibilidade.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47472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RESULTADOS E DISCUSSÃO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Paradigma dominante e taxonomia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865376"/>
            <a:ext cx="5532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O Quantum Annealing é o paradigma dominante: mais de 1.200 artigos nas strings diretamente relacionadas.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Hardware de referência — D-Wave Advantage: 5.640 qubits e conectividade Pegasus.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Algoritmos gate-based (QAOA, VQE) somam ≈ 150 artigos aplicados ao TSP.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Mais de 40 algoritmos catalogados em 6 categorias; predominam as abordagens híbridas (quântico + clássico).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755648"/>
            <a:ext cx="5312664" cy="2029968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7_algoritmos_01_paradig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028" y="1810512"/>
            <a:ext cx="3186176" cy="179222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72784" y="3895344"/>
            <a:ext cx="5312664" cy="2029968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7_algoritmos_02_abordag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028" y="3950208"/>
            <a:ext cx="3186176" cy="17922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72784" y="5852160"/>
            <a:ext cx="5312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E6670"/>
                </a:solidFill>
                <a:latin typeface="Arial"/>
                <a:cs typeface="Arial"/>
              </a:rPr>
              <a:t>Amostra de artigos classificados — paradigma e abordagem.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47472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RESULTADOS E DISCUSSÃO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Lacunas de pesquisa identificadas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5C8A"/>
                </a:solidFill>
                <a:latin typeface="Arial"/>
                <a:cs typeface="Arial"/>
              </a:rPr>
              <a:t>Quatro lacunas se destacam e apontam direções para trabalhos futuros: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249424"/>
            <a:ext cx="2670048" cy="3127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249424"/>
            <a:ext cx="2670048" cy="841248"/>
          </a:xfrm>
          <a:prstGeom prst="roundRect">
            <a:avLst>
              <a:gd name="adj" fmla="val 2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706624"/>
            <a:ext cx="2670048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249424"/>
            <a:ext cx="26700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Gate-based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218688"/>
            <a:ext cx="2340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6082"/>
                </a:solidFill>
                <a:latin typeface="Arial"/>
                <a:cs typeface="Arial"/>
              </a:rPr>
              <a:t>Escassas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77056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Faltam soluções QAOA/VQE com escalabilidade demonstrada para o TSP.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6996" y="2249424"/>
            <a:ext cx="2670048" cy="3127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96996" y="2249424"/>
            <a:ext cx="2670048" cy="841248"/>
          </a:xfrm>
          <a:prstGeom prst="roundRect">
            <a:avLst>
              <a:gd name="adj" fmla="val 2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96996" y="2706624"/>
            <a:ext cx="2670048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6996" y="2249424"/>
            <a:ext cx="26700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QRL para roteamento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1588" y="3218688"/>
            <a:ext cx="2340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6082"/>
                </a:solidFill>
                <a:latin typeface="Arial"/>
                <a:cs typeface="Arial"/>
              </a:rPr>
              <a:t>21 artigos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4740" y="3877056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Quantum Reinforcement Learning para roteamento — área emergente e pouco explorada.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2249424"/>
            <a:ext cx="2670048" cy="3127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488" y="2249424"/>
            <a:ext cx="2670048" cy="841248"/>
          </a:xfrm>
          <a:prstGeom prst="roundRect">
            <a:avLst>
              <a:gd name="adj" fmla="val 2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0488" y="2706624"/>
            <a:ext cx="2670048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2249424"/>
            <a:ext cx="26700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CVRP com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18688"/>
            <a:ext cx="2340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6082"/>
                </a:solidFill>
                <a:latin typeface="Arial"/>
                <a:cs typeface="Arial"/>
              </a:rPr>
              <a:t>18 artigos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877056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Aplicação logística direta do Quantum Annealing ao CVRP ainda pouco investigada.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83980" y="2249424"/>
            <a:ext cx="2670048" cy="3127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83980" y="2249424"/>
            <a:ext cx="2670048" cy="841248"/>
          </a:xfrm>
          <a:prstGeom prst="roundRect">
            <a:avLst>
              <a:gd name="adj" fmla="val 2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83980" y="2706624"/>
            <a:ext cx="2670048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83980" y="2249424"/>
            <a:ext cx="26700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Dados reais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8572" y="3218688"/>
            <a:ext cx="2340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6082"/>
                </a:solidFill>
                <a:latin typeface="Arial"/>
                <a:cs typeface="Arial"/>
              </a:rPr>
              <a:t>Limitada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1724" y="3877056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Validação com dados logísticos reais — predominam benchmarks acadêmicos.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554126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5E6670"/>
                </a:solidFill>
                <a:latin typeface="Arial"/>
                <a:cs typeface="Arial"/>
              </a:rPr>
              <a:t>Persiste o desafio de demonstrar escalabilidade frente às limitações do hardware NISQ.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47472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CONSIDERAÇÕES FINAIS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Conclusões e próximas etapas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792224"/>
            <a:ext cx="5458968" cy="407822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792224"/>
            <a:ext cx="5458968" cy="731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97510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841"/>
                </a:solidFill>
                <a:latin typeface="Arial"/>
                <a:cs typeface="Arial"/>
              </a:rPr>
              <a:t>O que a revisão mostrou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432304"/>
            <a:ext cx="495604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A aplicação de computação quântica ao TSP é um campo em rápida expansão, com base robusta de 3.696 artigos.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O Quantum Annealing consolidou-se como o paradigma mais maduro e acessível para otimização combinatória.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Algoritmos variacionais e de aprendizado de máquina quântico são fronteiras ainda pouco exploradas.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As lacunas identificadas são oportunidades concretas de contribuição científica.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92224"/>
            <a:ext cx="5440680" cy="4078224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792224"/>
            <a:ext cx="5440680" cy="731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97510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Próximas etapas da pesquisa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2560320"/>
            <a:ext cx="512064" cy="51206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56032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2505456"/>
            <a:ext cx="4297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DE6EF"/>
                </a:solidFill>
                <a:latin typeface="Arial"/>
                <a:cs typeface="Arial"/>
              </a:rPr>
              <a:t>Fundamentação teórica aprofundada do tema.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639312"/>
            <a:ext cx="512064" cy="51206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63931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3584448"/>
            <a:ext cx="4297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DE6EF"/>
                </a:solidFill>
                <a:latin typeface="Arial"/>
                <a:cs typeface="Arial"/>
              </a:rPr>
              <a:t>Seleção e reprodução de algoritmos em simuladores quânticos.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4718304"/>
            <a:ext cx="512064" cy="51206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471830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4663440"/>
            <a:ext cx="4297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DE6EF"/>
                </a:solidFill>
                <a:latin typeface="Arial"/>
                <a:cs typeface="Arial"/>
              </a:rPr>
              <a:t>Comparação experimental entre abordagens clássicas e quânticas para instâncias do TSP em contexto logístico.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47472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AGRADECIMENTOS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Agradecimentos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920240"/>
            <a:ext cx="10981944" cy="2011680"/>
          </a:xfrm>
          <a:prstGeom prst="roundRect">
            <a:avLst>
              <a:gd name="adj" fmla="val 6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920240"/>
            <a:ext cx="91440" cy="20116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12848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Este trabalho foi parcialmente financiado pelo projeto QuIIN FCRH Mestrado TQ, suportado pelo QuIIN — Quantum Industrial Innovation, Centro de Competência EMBRAPII CIMATEC em Tecnologias Quânticas, com recursos do PPI IoT/Manufatura 4.0 do MCTI, por meio do Termo de Cooperação 053/2023 firmado com a EMBRAPII. Apoio adicional do CNPq — Conselho Nacional de Desenvolvimento Científico e Tecnológico.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4297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Apoio institucional e fomento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4663440"/>
            <a:ext cx="2670048" cy="420624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4663440"/>
            <a:ext cx="26700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QuIIN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6996" y="4663440"/>
            <a:ext cx="2670048" cy="420624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6996" y="4663440"/>
            <a:ext cx="26700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EMBRAPII CIMATEC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4663440"/>
            <a:ext cx="2670048" cy="420624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4663440"/>
            <a:ext cx="26700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MCTI · PPI IoT / Manufatura 4.0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3980" y="4663440"/>
            <a:ext cx="2670048" cy="420624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3980" y="4663440"/>
            <a:ext cx="26700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CNPq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" y="347472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Referências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10512"/>
            <a:ext cx="10981944" cy="404164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10512"/>
            <a:ext cx="10981944" cy="731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139696"/>
            <a:ext cx="103327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1. 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APPLEGATE, D. L. et al. The Traveling Salesman Problem: a computational study. Princeton: Princeton University Press, 2006.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2. 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KADOWAKI, T.; NISHIMORI, H. Quantum annealing in the Transverse Ising model. Physical Review E, v. 58, n. 5, p. 5355-5363, 1998.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3. 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SALEHI, Ö.; GLOS, A.; MISZCZAK, J. A. Unconstrained binary models of the travelling salesman problem variants for quantum optimization. Quantum Information Processing, v. 21, n. 67, 2022.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4. 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PHILLIPSON, F. Quantum Computing in Logistics and Supply Chain Management: an overview. Maastricht University / TNO, 2025.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5. 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FARHI, E.; GOLDSTONE, J.; GUTMANN, S. A quantum approximate optimization algorithm. arXiv preprint arXiv:1411.4028, 2014.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13232"/>
            <a:ext cx="2344027" cy="1325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" y="2432304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Arial"/>
                <a:cs typeface="Arial"/>
              </a:rPr>
              <a:t>Obrigado!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529584"/>
            <a:ext cx="1051560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712463"/>
            <a:ext cx="10241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5B7FB5"/>
                </a:solidFill>
                <a:latin typeface="Arial"/>
                <a:cs typeface="Arial"/>
              </a:rPr>
              <a:t>Aplicação de Quantum Annealing ao Problema do Caixeiro Viajante: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1">
                <a:solidFill>
                  <a:srgbClr val="B9C6D6"/>
                </a:solidFill>
                <a:latin typeface="Arial"/>
                <a:cs typeface="Arial"/>
              </a:rPr>
              <a:t>revisão exploratória da literatura em logística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77316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Renan Cardoso dos Santos</a:t>
            </a:r>
            <a:r>
              <a:rPr sz="1300" b="0" i="0">
                <a:solidFill>
                  <a:srgbClr val="B9C6D6"/>
                </a:solidFill>
                <a:latin typeface="Arial"/>
                <a:cs typeface="Arial"/>
              </a:rPr>
              <a:t>   ·   Valéria Loureiro da Silva   ·   Anderson Rafael Correia B. da Silva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2303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✉  </a:t>
            </a:r>
            <a:r>
              <a:rPr sz="1400" b="0" i="0">
                <a:solidFill>
                  <a:srgbClr val="5B7FB5"/>
                </a:solidFill>
                <a:latin typeface="Arial"/>
                <a:cs typeface="Arial"/>
              </a:rPr>
              <a:t>renan.santos@fbter.org.br</a:t>
            </a:r>
            <a:r>
              <a:rPr sz="1300" b="0" i="0">
                <a:solidFill>
                  <a:srgbClr val="8F9FB3"/>
                </a:solidFill>
                <a:latin typeface="Arial"/>
                <a:cs typeface="Arial"/>
              </a:rPr>
              <a:t>        Universidade SENAI CIMATEC · Salvador-BA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373368"/>
            <a:ext cx="8229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cs typeface="Arial"/>
              </a:rPr>
              <a:t>XI SAPCT — SENAI CIMATEC · 28 e 29 de Maio de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10928" y="632764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104" y="6364224"/>
            <a:ext cx="881888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m xmlns="f669e5db-8216-4767-8765-5c106c935a63" xsi:nil="true"/>
    <lcf76f155ced4ddcb4097134ff3c332f xmlns="f669e5db-8216-4767-8765-5c106c935a63">
      <Terms xmlns="http://schemas.microsoft.com/office/infopath/2007/PartnerControls"/>
    </lcf76f155ced4ddcb4097134ff3c332f>
    <TaxCatchAll xmlns="61ed00d3-b95b-49cb-aaac-c4e788828f5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E3559D24A189843A705DCAFAEC0B137" ma:contentTypeVersion="20" ma:contentTypeDescription="Crie um novo documento." ma:contentTypeScope="" ma:versionID="289f59ee561973bc3c454ec41fafdc64">
  <xsd:schema xmlns:xsd="http://www.w3.org/2001/XMLSchema" xmlns:xs="http://www.w3.org/2001/XMLSchema" xmlns:p="http://schemas.microsoft.com/office/2006/metadata/properties" xmlns:ns2="f669e5db-8216-4767-8765-5c106c935a63" xmlns:ns3="61ed00d3-b95b-49cb-aaac-c4e788828f5e" targetNamespace="http://schemas.microsoft.com/office/2006/metadata/properties" ma:root="true" ma:fieldsID="79f8c8b4fa28edb900d0ffcf62de8357" ns2:_="" ns3:_="">
    <xsd:import namespace="f669e5db-8216-4767-8765-5c106c935a63"/>
    <xsd:import namespace="61ed00d3-b95b-49cb-aaac-c4e788828f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Imagem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9e5db-8216-4767-8765-5c106c935a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Imagem" ma:index="25" nillable="true" ma:displayName="Imagem" ma:format="Thumbnail" ma:internalName="Imagem">
      <xsd:simpleType>
        <xsd:restriction base="dms:Unknown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d00d3-b95b-49cb-aaac-c4e788828f5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d45363e-5cca-49ed-baa5-6f84b8176714}" ma:internalName="TaxCatchAll" ma:showField="CatchAllData" ma:web="61ed00d3-b95b-49cb-aaac-c4e788828f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5CF3D6-8C26-47CB-8222-E12500FF1D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002501-C2A4-428D-9DC2-3E13F3023614}">
  <ds:schemaRefs>
    <ds:schemaRef ds:uri="http://schemas.microsoft.com/office/2006/metadata/properties"/>
    <ds:schemaRef ds:uri="http://schemas.microsoft.com/office/infopath/2007/PartnerControls"/>
    <ds:schemaRef ds:uri="f669e5db-8216-4767-8765-5c106c935a63"/>
    <ds:schemaRef ds:uri="61ed00d3-b95b-49cb-aaac-c4e788828f5e"/>
  </ds:schemaRefs>
</ds:datastoreItem>
</file>

<file path=customXml/itemProps3.xml><?xml version="1.0" encoding="utf-8"?>
<ds:datastoreItem xmlns:ds="http://schemas.openxmlformats.org/officeDocument/2006/customXml" ds:itemID="{3606E40D-7C12-4F7C-AB5A-F4C231350D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69e5db-8216-4767-8765-5c106c935a63"/>
    <ds:schemaRef ds:uri="61ed00d3-b95b-49cb-aaac-c4e788828f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 Lauria da Cruz</dc:creator>
  <cp:lastModifiedBy>Eduardo Augusto Almeida Bastos</cp:lastModifiedBy>
  <cp:revision>2</cp:revision>
  <dcterms:modified xsi:type="dcterms:W3CDTF">2026-02-12T12:22:21Z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0x0101006E3559D24A189843A705DCAFAEC0B137</vt:lpwstr>
  </property>
  <property fmtid="{D5CDD505-2E9C-101B-9397-08002B2CF9AE}" pid="3" name="MediaServiceImageTags">
    <vt:lpwstr/>
  </property>
</Properties>
</file>