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1"/>
  </p:notesMasterIdLst>
  <p:sldIdLst>
    <p:sldId id="256" r:id="rId5"/>
    <p:sldId id="257" r:id="rId6"/>
    <p:sldId id="276" r:id="rId7"/>
    <p:sldId id="258" r:id="rId8"/>
    <p:sldId id="273" r:id="rId9"/>
    <p:sldId id="274" r:id="rId10"/>
    <p:sldId id="277" r:id="rId11"/>
    <p:sldId id="260" r:id="rId12"/>
    <p:sldId id="261" r:id="rId13"/>
    <p:sldId id="281" r:id="rId14"/>
    <p:sldId id="280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embeddedFontLst>
    <p:embeddedFont>
      <p:font typeface="Play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ção Padrão" id="{AF985159-28CA-46EA-845F-C848EB3AC15D}">
          <p14:sldIdLst>
            <p14:sldId id="256"/>
            <p14:sldId id="257"/>
            <p14:sldId id="276"/>
            <p14:sldId id="258"/>
            <p14:sldId id="273"/>
            <p14:sldId id="274"/>
            <p14:sldId id="277"/>
            <p14:sldId id="260"/>
            <p14:sldId id="261"/>
            <p14:sldId id="281"/>
            <p14:sldId id="280"/>
            <p14:sldId id="263"/>
            <p14:sldId id="264"/>
            <p14:sldId id="265"/>
            <p14:sldId id="266"/>
            <p14:sldId id="267"/>
          </p14:sldIdLst>
        </p14:section>
        <p14:section name="Seção sem Título" id="{56D1BAA0-1293-4220-A26C-35AE56CA24A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FAF"/>
    <a:srgbClr val="ECF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706" autoAdjust="0"/>
  </p:normalViewPr>
  <p:slideViewPr>
    <p:cSldViewPr snapToGrid="0">
      <p:cViewPr varScale="1">
        <p:scale>
          <a:sx n="95" d="100"/>
          <a:sy n="95" d="100"/>
        </p:scale>
        <p:origin x="6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Abertura (~20s). Apresentar titulo, autores e a natureza do trabalho: revisao exploratoria da literatura.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 em seis blocos: contextualizar o problema, apresentar a tecnologia, definir o objetivo, descrever a metodologia, discutir os resultados e fechar com lacunas e proximos passos.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Resumo (~50s). Dar a visao geral: problema (TSP NP-Hard), tecnologia (QA), metodo (26 strings -&gt; 3.696 artigos) e o achado central (QA dominante; lacunas gate-based e QML).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TSP e um classico NP-Hard de </a:t>
            </a:r>
            <a:r>
              <a:rPr dirty="0" err="1"/>
              <a:t>otimizacao</a:t>
            </a:r>
            <a:r>
              <a:rPr dirty="0"/>
              <a:t> </a:t>
            </a:r>
            <a:r>
              <a:rPr dirty="0" err="1"/>
              <a:t>combinatoria</a:t>
            </a:r>
            <a:r>
              <a:rPr dirty="0"/>
              <a:t>. Na </a:t>
            </a:r>
            <a:r>
              <a:rPr dirty="0" err="1"/>
              <a:t>logistica</a:t>
            </a:r>
            <a:r>
              <a:rPr dirty="0"/>
              <a:t>, </a:t>
            </a:r>
            <a:r>
              <a:rPr dirty="0" err="1"/>
              <a:t>rotas</a:t>
            </a:r>
            <a:r>
              <a:rPr dirty="0"/>
              <a:t> </a:t>
            </a:r>
            <a:r>
              <a:rPr dirty="0" err="1"/>
              <a:t>eficientes</a:t>
            </a:r>
            <a:r>
              <a:rPr dirty="0"/>
              <a:t> </a:t>
            </a:r>
            <a:r>
              <a:rPr dirty="0" err="1"/>
              <a:t>reduzem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 e tempo. A </a:t>
            </a:r>
            <a:r>
              <a:rPr dirty="0" err="1"/>
              <a:t>variante</a:t>
            </a:r>
            <a:r>
              <a:rPr dirty="0"/>
              <a:t> TSPTW, com </a:t>
            </a:r>
            <a:r>
              <a:rPr dirty="0" err="1"/>
              <a:t>janelas</a:t>
            </a:r>
            <a:r>
              <a:rPr dirty="0"/>
              <a:t> de tempo, </a:t>
            </a:r>
            <a:r>
              <a:rPr dirty="0" err="1"/>
              <a:t>aproxima</a:t>
            </a:r>
            <a:r>
              <a:rPr dirty="0"/>
              <a:t> o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operacoes</a:t>
            </a:r>
            <a:r>
              <a:rPr dirty="0"/>
              <a:t> reais de </a:t>
            </a:r>
            <a:r>
              <a:rPr dirty="0" err="1"/>
              <a:t>distribuicao</a:t>
            </a:r>
            <a:r>
              <a:rPr dirty="0"/>
              <a:t> </a:t>
            </a:r>
            <a:r>
              <a:rPr dirty="0" err="1"/>
              <a:t>urbana</a:t>
            </a:r>
            <a:r>
              <a:rPr dirty="0"/>
              <a:t> e </a:t>
            </a:r>
            <a:r>
              <a:rPr dirty="0" err="1"/>
              <a:t>roteamento</a:t>
            </a:r>
            <a:r>
              <a:rPr dirty="0"/>
              <a:t> de </a:t>
            </a:r>
            <a:r>
              <a:rPr dirty="0" err="1"/>
              <a:t>veiculos</a:t>
            </a:r>
            <a:r>
              <a:rPr dirty="0"/>
              <a:t>.</a:t>
            </a:r>
            <a:endParaRPr lang="pt-BR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lang="pt-BR" sz="1100" b="0" i="0" dirty="0">
                <a:solidFill>
                  <a:srgbClr val="2B2B2B"/>
                </a:solidFill>
                <a:latin typeface="Arial"/>
                <a:cs typeface="Arial"/>
              </a:rPr>
              <a:t>Grande relevância prática: a otimização de rotas de entrega impacta diretamente custos operacionais e eficiência.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pt-BR" sz="1100" b="0" i="0" dirty="0">
              <a:solidFill>
                <a:srgbClr val="2B2B2B"/>
              </a:solidFill>
              <a:latin typeface="Arial"/>
              <a:cs typeface="Arial"/>
            </a:endParaRPr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computacao quantica busca explorar o espaco de solucoes de forma mais eficiente. O Quantum Annealing usa tunelamento quantico para encontrar o estado de menor energia; o problema e formulado como QUBO e resolvido em hardware D-Wave. Salehi et al. (2022) mostraram a viabilidade para o TSPTW.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1630-C1F1-C846-332C-E5A5F515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41F7F-81FF-5FC5-6C2F-8C0FAD3DD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15EB7-0AD3-31B7-8F04-2251C9A5E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realizar uma revisao exploratoria da literatura sobre a aplicacao de algoritmos quanticos, com enfase em Quantum Annealing, ao TSP e variantes em logistica - identificando volume de producao, algoritmos mais usados e lacunas de pesquisa.</a:t>
            </a:r>
          </a:p>
        </p:txBody>
      </p:sp>
    </p:spTree>
    <p:extLst>
      <p:ext uri="{BB962C8B-B14F-4D97-AF65-F5344CB8AC3E}">
        <p14:creationId xmlns:p14="http://schemas.microsoft.com/office/powerpoint/2010/main" val="2808043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Metodologia</a:t>
            </a:r>
            <a:r>
              <a:rPr dirty="0"/>
              <a:t> (~90s). Tres </a:t>
            </a:r>
            <a:r>
              <a:rPr dirty="0" err="1"/>
              <a:t>eixos</a:t>
            </a:r>
            <a:r>
              <a:rPr dirty="0"/>
              <a:t> </a:t>
            </a:r>
            <a:r>
              <a:rPr dirty="0" err="1"/>
              <a:t>tematicos</a:t>
            </a:r>
            <a:r>
              <a:rPr dirty="0"/>
              <a:t> cruzados </a:t>
            </a:r>
            <a:r>
              <a:rPr dirty="0" err="1"/>
              <a:t>em</a:t>
            </a:r>
            <a:r>
              <a:rPr dirty="0"/>
              <a:t> 26 strings no Lens.org, </a:t>
            </a:r>
            <a:r>
              <a:rPr dirty="0" err="1"/>
              <a:t>priorizadas</a:t>
            </a:r>
            <a:r>
              <a:rPr dirty="0"/>
              <a:t> e </a:t>
            </a:r>
            <a:r>
              <a:rPr dirty="0" err="1"/>
              <a:t>aplicadas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duas </a:t>
            </a:r>
            <a:r>
              <a:rPr dirty="0" err="1"/>
              <a:t>fases</a:t>
            </a:r>
            <a:r>
              <a:rPr dirty="0"/>
              <a:t>. </a:t>
            </a:r>
            <a:r>
              <a:rPr dirty="0" err="1"/>
              <a:t>Deduplicacao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DOI e </a:t>
            </a:r>
            <a:r>
              <a:rPr dirty="0" err="1"/>
              <a:t>titulo</a:t>
            </a:r>
            <a:r>
              <a:rPr dirty="0"/>
              <a:t>. O </a:t>
            </a:r>
            <a:r>
              <a:rPr dirty="0" err="1"/>
              <a:t>grafico</a:t>
            </a:r>
            <a:r>
              <a:rPr dirty="0"/>
              <a:t> </a:t>
            </a:r>
            <a:r>
              <a:rPr dirty="0" err="1"/>
              <a:t>mostra</a:t>
            </a:r>
            <a:r>
              <a:rPr dirty="0"/>
              <a:t> a </a:t>
            </a:r>
            <a:r>
              <a:rPr dirty="0" err="1"/>
              <a:t>contribuicao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string.</a:t>
            </a:r>
            <a:endParaRPr lang="pt-BR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81,1% dos artigos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aparecem em apenas 1 string — as buscas são complementares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Resultados</a:t>
            </a:r>
            <a:r>
              <a:rPr dirty="0"/>
              <a:t> 1 (~70s). De 5.320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brutos</a:t>
            </a:r>
            <a:r>
              <a:rPr dirty="0"/>
              <a:t> para 3.696 </a:t>
            </a:r>
            <a:r>
              <a:rPr dirty="0" err="1"/>
              <a:t>unicos</a:t>
            </a:r>
            <a:r>
              <a:rPr dirty="0"/>
              <a:t>. 61,7% pos-2020, </a:t>
            </a:r>
            <a:r>
              <a:rPr dirty="0" err="1"/>
              <a:t>pico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2025: campo </a:t>
            </a:r>
            <a:r>
              <a:rPr dirty="0" err="1"/>
              <a:t>em</a:t>
            </a:r>
            <a:r>
              <a:rPr dirty="0"/>
              <a:t> franca </a:t>
            </a:r>
            <a:r>
              <a:rPr dirty="0" err="1"/>
              <a:t>expansao</a:t>
            </a:r>
            <a:r>
              <a:rPr dirty="0"/>
              <a:t>. 49 </a:t>
            </a:r>
            <a:r>
              <a:rPr dirty="0" err="1"/>
              <a:t>paises</a:t>
            </a:r>
            <a:r>
              <a:rPr dirty="0"/>
              <a:t> e 82,8% de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aberto</a:t>
            </a:r>
            <a:r>
              <a:rPr dirty="0"/>
              <a:t> </a:t>
            </a:r>
            <a:r>
              <a:rPr dirty="0" err="1"/>
              <a:t>reforcam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 global e </a:t>
            </a:r>
            <a:r>
              <a:rPr dirty="0" err="1"/>
              <a:t>reprodutibilidade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A20FE-8E88-EF18-EB56-9D56CB1D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75394-194F-A0D5-D32B-4839CC046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178FF-4897-774D-FF7B-D9EF76D43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Quantum Annealing </a:t>
            </a:r>
            <a:r>
              <a:rPr dirty="0" err="1"/>
              <a:t>confirma</a:t>
            </a:r>
            <a:r>
              <a:rPr dirty="0"/>
              <a:t>-se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paradigma</a:t>
            </a:r>
            <a:r>
              <a:rPr dirty="0"/>
              <a:t> </a:t>
            </a:r>
            <a:r>
              <a:rPr dirty="0" err="1"/>
              <a:t>dominante</a:t>
            </a:r>
            <a:r>
              <a:rPr dirty="0"/>
              <a:t>, com </a:t>
            </a:r>
            <a:r>
              <a:rPr dirty="0" err="1"/>
              <a:t>mais</a:t>
            </a:r>
            <a:r>
              <a:rPr dirty="0"/>
              <a:t> de 1.200 </a:t>
            </a:r>
            <a:r>
              <a:rPr dirty="0" err="1"/>
              <a:t>artigos</a:t>
            </a:r>
            <a:r>
              <a:rPr dirty="0"/>
              <a:t>. O hardware de </a:t>
            </a:r>
            <a:r>
              <a:rPr dirty="0" err="1"/>
              <a:t>referencia</a:t>
            </a:r>
            <a:r>
              <a:rPr dirty="0"/>
              <a:t> e o D-Wave Advantage (5.640 qubits, Pegasus). </a:t>
            </a:r>
            <a:r>
              <a:rPr dirty="0" err="1"/>
              <a:t>Algoritmos</a:t>
            </a:r>
            <a:r>
              <a:rPr dirty="0"/>
              <a:t> gate-based </a:t>
            </a:r>
            <a:r>
              <a:rPr dirty="0" err="1"/>
              <a:t>como</a:t>
            </a:r>
            <a:r>
              <a:rPr dirty="0"/>
              <a:t> QAOA e VQE </a:t>
            </a:r>
            <a:r>
              <a:rPr dirty="0" err="1"/>
              <a:t>somam</a:t>
            </a:r>
            <a:r>
              <a:rPr dirty="0"/>
              <a:t>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cerca</a:t>
            </a:r>
            <a:r>
              <a:rPr dirty="0"/>
              <a:t> de 150 </a:t>
            </a:r>
            <a:r>
              <a:rPr dirty="0" err="1"/>
              <a:t>artigos</a:t>
            </a:r>
            <a:r>
              <a:rPr dirty="0"/>
              <a:t> </a:t>
            </a:r>
            <a:r>
              <a:rPr dirty="0" err="1"/>
              <a:t>aplicados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TSP - </a:t>
            </a:r>
            <a:r>
              <a:rPr dirty="0" err="1"/>
              <a:t>uma</a:t>
            </a:r>
            <a:r>
              <a:rPr dirty="0"/>
              <a:t> lacuna.</a:t>
            </a:r>
          </a:p>
        </p:txBody>
      </p:sp>
    </p:spTree>
    <p:extLst>
      <p:ext uri="{BB962C8B-B14F-4D97-AF65-F5344CB8AC3E}">
        <p14:creationId xmlns:p14="http://schemas.microsoft.com/office/powerpoint/2010/main" val="949275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Foram catalogados mais de 40 algoritmos quanticos, agrupados em seis categorias: Quantum Annealing, variacionais, exatos, hibridos, QML e quantum-inspired. A maioria das implementacoes combina processamento quantico com solvers classicos - abordagens hibridas.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3 (~60s). Quatro lacunas: gate-based escalavel, QRL para roteamento (21), CVRP com QA (18) e validacao com dados reais. Sao oportunidades concretas de contribuicao.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Consideracoes</a:t>
            </a:r>
            <a:r>
              <a:rPr dirty="0"/>
              <a:t> </a:t>
            </a:r>
            <a:r>
              <a:rPr dirty="0" err="1"/>
              <a:t>finais</a:t>
            </a:r>
            <a:r>
              <a:rPr dirty="0"/>
              <a:t> (~60s). </a:t>
            </a:r>
            <a:r>
              <a:rPr dirty="0" err="1"/>
              <a:t>Sintetizar</a:t>
            </a:r>
            <a:r>
              <a:rPr dirty="0"/>
              <a:t>: campo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expansao</a:t>
            </a:r>
            <a:r>
              <a:rPr dirty="0"/>
              <a:t>, QA maduro, </a:t>
            </a:r>
            <a:r>
              <a:rPr dirty="0" err="1"/>
              <a:t>variacionais</a:t>
            </a:r>
            <a:r>
              <a:rPr dirty="0"/>
              <a:t>/QML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fronteiras</a:t>
            </a:r>
            <a:r>
              <a:rPr dirty="0"/>
              <a:t>. </a:t>
            </a:r>
            <a:r>
              <a:rPr dirty="0" err="1"/>
              <a:t>Apresentar</a:t>
            </a:r>
            <a:r>
              <a:rPr dirty="0"/>
              <a:t> as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proximas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 da </a:t>
            </a:r>
            <a:r>
              <a:rPr dirty="0" err="1"/>
              <a:t>pesquisa</a:t>
            </a:r>
            <a:r>
              <a:rPr dirty="0"/>
              <a:t> de </a:t>
            </a:r>
            <a:r>
              <a:rPr dirty="0" err="1"/>
              <a:t>mestrado</a:t>
            </a:r>
            <a:r>
              <a:rPr dirty="0"/>
              <a:t>.</a:t>
            </a:r>
            <a:endParaRPr lang="pt-BR" dirty="0"/>
          </a:p>
          <a:p>
            <a:endParaRPr lang="en-US" dirty="0"/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Resultados &gt;&gt; Busca de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Strings</a:t>
            </a:r>
            <a:endParaRPr lang="pt-BR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Abordagens híbridas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(quântico + clássico) são padrão, não exceção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Áreas emergentes pouco publicadas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QRL (21 artigos), CVRP+QA (18),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QML+Supply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Chain (79)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81,1% dos artigos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aparecem em apenas 1 string — as buscas são complementares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1 — Quantum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Annealing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domina a literatura de otimização combinatória quântica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tabLst/>
              <a:defRPr/>
            </a:pP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Quantum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Annealing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domina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a literatura (~800+ artigos), enquanto QAOA/VQE são nicho (~150 artigos) — gap de pesquisa significativo</a:t>
            </a:r>
          </a:p>
          <a:p>
            <a:pPr lvl="1"/>
            <a:endParaRPr lang="pt-BR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2 — Algoritmos variacionais gate-based (QAOA/VQE) são um nicho ainda pequeno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3 — </a:t>
            </a:r>
            <a:r>
              <a:rPr lang="pt-BR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Supply</a:t>
            </a:r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Chain Management tem cobertura substancial, mas logística aplicada é escassa</a:t>
            </a:r>
          </a:p>
          <a:p>
            <a:r>
              <a:rPr lang="pt-BR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Insight 8 — Crescimento acelerado nos últimos 5 anos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Agradecimentos (~20s). Reconhecer o fomento: QuIIN, EMBRAPII CIMATEC, MCTI e CNPq.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Referencias (~20s). Destacar as obras-chave: Kadowaki &amp; Nishimori (fundamento do QA), Salehi et al. (QUBO para TSPTW) e Phillipson (base da segunda fase de busca).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Encerramento (~10s). Agradecer e abrir para perguntas.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9B0328F-7C3F-ED75-D32E-FCEA6CD96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54864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0352"/>
            <a:ext cx="2505684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" y="2048256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REVISÃO EXPLORATÓRIA DA LITERATURA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14016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E2841"/>
                </a:solidFill>
                <a:latin typeface="Arial"/>
                <a:cs typeface="Arial"/>
              </a:rPr>
              <a:t>Aplicação de Quantum Annealing ao Problema do Caixeiro Viajante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2E5C8A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100584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4224528"/>
            <a:ext cx="104241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2B2B2B"/>
                </a:solidFill>
                <a:latin typeface="Arial"/>
                <a:cs typeface="Arial"/>
              </a:rPr>
              <a:t>Renan Cardoso dos Santos</a:t>
            </a:r>
            <a:r>
              <a:rPr sz="1600" b="1" i="0" dirty="0">
                <a:solidFill>
                  <a:srgbClr val="156082"/>
                </a:solidFill>
                <a:latin typeface="Arial"/>
                <a:cs typeface="Arial"/>
              </a:rPr>
              <a:t>¹</a:t>
            </a: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     </a:t>
            </a:r>
            <a:r>
              <a:rPr sz="1600" b="1" i="0" dirty="0" err="1">
                <a:solidFill>
                  <a:srgbClr val="2B2B2B"/>
                </a:solidFill>
                <a:latin typeface="Arial"/>
                <a:cs typeface="Arial"/>
              </a:rPr>
              <a:t>Valéria</a:t>
            </a:r>
            <a:r>
              <a:rPr sz="1600" b="1" i="0" dirty="0">
                <a:solidFill>
                  <a:srgbClr val="2B2B2B"/>
                </a:solidFill>
                <a:latin typeface="Arial"/>
                <a:cs typeface="Arial"/>
              </a:rPr>
              <a:t> Loureiro da Silva</a:t>
            </a:r>
            <a:r>
              <a:rPr sz="1600" b="1" i="0" dirty="0">
                <a:solidFill>
                  <a:srgbClr val="156082"/>
                </a:solidFill>
                <a:latin typeface="Arial"/>
                <a:cs typeface="Arial"/>
              </a:rPr>
              <a:t>²</a:t>
            </a: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     </a:t>
            </a:r>
            <a:r>
              <a:rPr sz="1600" b="1" i="0" dirty="0">
                <a:solidFill>
                  <a:srgbClr val="2B2B2B"/>
                </a:solidFill>
                <a:latin typeface="Arial"/>
                <a:cs typeface="Arial"/>
              </a:rPr>
              <a:t>Anderson Rafael Correia B. da Silva</a:t>
            </a:r>
            <a:r>
              <a:rPr sz="1600" b="1" i="0" dirty="0">
                <a:solidFill>
                  <a:srgbClr val="156082"/>
                </a:solidFill>
                <a:latin typeface="Arial"/>
                <a:cs typeface="Arial"/>
              </a:rPr>
              <a:t>³</a:t>
            </a:r>
            <a:endParaRPr sz="12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4562856"/>
            <a:ext cx="10424160" cy="543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5E6670"/>
                </a:solidFill>
                <a:latin typeface="Arial"/>
                <a:cs typeface="Arial"/>
              </a:rPr>
              <a:t>¹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Mestrando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em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Gestão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de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Tecnologia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e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Inovação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—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Universidade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SENAI CIMATEC, Salvador-BA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5E6670"/>
                </a:solidFill>
                <a:latin typeface="Arial"/>
                <a:cs typeface="Arial"/>
              </a:rPr>
              <a:t>² ³ </a:t>
            </a:r>
            <a:r>
              <a:rPr sz="1200" b="0" i="0" dirty="0" err="1">
                <a:solidFill>
                  <a:srgbClr val="5E6670"/>
                </a:solidFill>
                <a:latin typeface="Arial"/>
                <a:cs typeface="Arial"/>
              </a:rPr>
              <a:t>Universidade</a:t>
            </a:r>
            <a:r>
              <a:rPr sz="1200" b="0" i="0" dirty="0">
                <a:solidFill>
                  <a:srgbClr val="5E6670"/>
                </a:solidFill>
                <a:latin typeface="Arial"/>
                <a:cs typeface="Arial"/>
              </a:rPr>
              <a:t> SENAI CIMATEC, Salvador-BA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987" y="5285232"/>
            <a:ext cx="2099733" cy="9143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" y="627278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E6670"/>
                </a:solidFill>
                <a:latin typeface="Arial"/>
                <a:cs typeface="Arial"/>
              </a:rPr>
              <a:t>XI Seminário de Avaliação de Pesquisa Científica e Tecnológica — SAPCT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92354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700" b="1" i="0" dirty="0">
                <a:solidFill>
                  <a:srgbClr val="0E2841"/>
                </a:solidFill>
                <a:latin typeface="Arial"/>
                <a:cs typeface="Arial"/>
              </a:rPr>
              <a:t>Agenda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 dirty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</a:t>
            </a:r>
            <a:r>
              <a:rPr lang="pt-BR" sz="850" b="0" i="0" dirty="0">
                <a:solidFill>
                  <a:srgbClr val="6B727B"/>
                </a:solidFill>
                <a:latin typeface="Arial"/>
                <a:cs typeface="Arial"/>
              </a:rPr>
              <a:t>e 29 </a:t>
            </a:r>
            <a:r>
              <a:rPr sz="850" b="0" i="0" dirty="0">
                <a:solidFill>
                  <a:srgbClr val="6B727B"/>
                </a:solidFill>
                <a:latin typeface="Arial"/>
                <a:cs typeface="Arial"/>
              </a:rPr>
              <a:t>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020823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441447"/>
            <a:ext cx="30723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i="0" dirty="0">
                <a:solidFill>
                  <a:srgbClr val="0E2841"/>
                </a:solidFill>
                <a:latin typeface="Arial"/>
                <a:cs typeface="Arial"/>
              </a:rPr>
              <a:t>Resumo</a:t>
            </a:r>
            <a:endParaRPr sz="15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" y="2770631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Síntese do trabalho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7408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2020823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441447"/>
            <a:ext cx="30723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i="0" dirty="0">
                <a:solidFill>
                  <a:srgbClr val="0E2841"/>
                </a:solidFill>
                <a:latin typeface="Arial"/>
                <a:cs typeface="Arial"/>
              </a:rPr>
              <a:t>Introdução</a:t>
            </a:r>
            <a:endParaRPr sz="15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5152" y="2770631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pt-BR" sz="1200" dirty="0">
                <a:solidFill>
                  <a:srgbClr val="6B727B"/>
                </a:solidFill>
              </a:rPr>
              <a:t>O 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problema TSP </a:t>
            </a:r>
            <a:r>
              <a:rPr lang="pt-BR" sz="1200" dirty="0">
                <a:solidFill>
                  <a:srgbClr val="6B727B"/>
                </a:solidFill>
              </a:rPr>
              <a:t>e a tecnologia QA</a:t>
            </a:r>
            <a:endParaRPr lang="pt-BR"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11312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11312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49056" y="2020823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441447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770631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A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pergunta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que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orienta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a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revisão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3504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3776471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197095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526279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Como a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literatura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foi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mapeada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07408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07408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45152" y="3776471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197095"/>
            <a:ext cx="30723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Resultados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4526279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B"/>
                </a:solidFill>
                <a:latin typeface="Arial"/>
                <a:cs typeface="Arial"/>
              </a:rPr>
              <a:t>Panorama, paradigmas e algoritmos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2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11312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49056" y="3776471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4197095"/>
            <a:ext cx="30723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i="0" dirty="0">
                <a:solidFill>
                  <a:srgbClr val="0E2841"/>
                </a:solidFill>
                <a:latin typeface="Arial"/>
                <a:cs typeface="Arial"/>
              </a:rPr>
              <a:t>Considerações Finais</a:t>
            </a:r>
            <a:endParaRPr sz="15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49056" y="4526279"/>
            <a:ext cx="3072384" cy="18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Lacunas, conclusão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e pr</a:t>
            </a:r>
            <a:r>
              <a:rPr lang="pt-BR" sz="1200" b="0" i="0" dirty="0">
                <a:solidFill>
                  <a:srgbClr val="6B727B"/>
                </a:solidFill>
                <a:latin typeface="Arial"/>
                <a:cs typeface="Arial"/>
              </a:rPr>
              <a:t>ó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ximas</a:t>
            </a:r>
            <a:r>
              <a:rPr sz="1200"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sz="1200" b="0" i="0" dirty="0" err="1">
                <a:solidFill>
                  <a:srgbClr val="6B727B"/>
                </a:solidFill>
                <a:latin typeface="Arial"/>
                <a:cs typeface="Arial"/>
              </a:rPr>
              <a:t>etapas</a:t>
            </a:r>
            <a:endParaRPr sz="1200"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24">
            <a:extLst>
              <a:ext uri="{FF2B5EF4-FFF2-40B4-BE49-F238E27FC236}">
                <a16:creationId xmlns:a16="http://schemas.microsoft.com/office/drawing/2014/main" id="{5A482BBE-30DA-94EB-D585-5DF9D30863C4}"/>
              </a:ext>
            </a:extLst>
          </p:cNvPr>
          <p:cNvSpPr/>
          <p:nvPr/>
        </p:nvSpPr>
        <p:spPr>
          <a:xfrm>
            <a:off x="612648" y="2843103"/>
            <a:ext cx="10939274" cy="2386599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27425"/>
            <a:ext cx="76809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426075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Síntese do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trabalho</a:t>
            </a:r>
            <a:endParaRPr sz="32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03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6158BC41-B885-22F0-B26C-AFA6A50090EA}"/>
              </a:ext>
            </a:extLst>
          </p:cNvPr>
          <p:cNvGrpSpPr/>
          <p:nvPr/>
        </p:nvGrpSpPr>
        <p:grpSpPr>
          <a:xfrm>
            <a:off x="548640" y="5413248"/>
            <a:ext cx="10981944" cy="713232"/>
            <a:chOff x="603504" y="4846320"/>
            <a:chExt cx="10981944" cy="713232"/>
          </a:xfrm>
        </p:grpSpPr>
        <p:sp>
          <p:nvSpPr>
            <p:cNvPr id="20" name="Rounded Rectangle 19"/>
            <p:cNvSpPr/>
            <p:nvPr/>
          </p:nvSpPr>
          <p:spPr>
            <a:xfrm>
              <a:off x="603504" y="4846320"/>
              <a:ext cx="10981944" cy="713232"/>
            </a:xfrm>
            <a:prstGeom prst="roundRect">
              <a:avLst>
                <a:gd name="adj" fmla="val 14000"/>
              </a:avLst>
            </a:prstGeom>
            <a:solidFill>
              <a:srgbClr val="0E28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4400" y="4846320"/>
              <a:ext cx="10424160" cy="7132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1400" b="1" i="0">
                  <a:solidFill>
                    <a:srgbClr val="5B7FB5"/>
                  </a:solidFill>
                  <a:latin typeface="Arial"/>
                  <a:cs typeface="Arial"/>
                </a:rPr>
                <a:t>Palavras-chave:   </a:t>
              </a:r>
              <a:r>
                <a:rPr sz="1400" b="0" i="0">
                  <a:solidFill>
                    <a:srgbClr val="FFFFFF"/>
                  </a:solidFill>
                  <a:latin typeface="Arial"/>
                  <a:cs typeface="Arial"/>
                </a:rPr>
                <a:t>Problema do Caixeiro Viajante  ·  Quantum Annealing  ·  Otimização Combinatória  ·  Logística</a:t>
              </a:r>
            </a:p>
          </p:txBody>
        </p:sp>
      </p:grpSp>
      <p:sp>
        <p:nvSpPr>
          <p:cNvPr id="25" name="TextBox 10">
            <a:extLst>
              <a:ext uri="{FF2B5EF4-FFF2-40B4-BE49-F238E27FC236}">
                <a16:creationId xmlns:a16="http://schemas.microsoft.com/office/drawing/2014/main" id="{334EF85B-D159-0FA1-06E7-F6397498BAC6}"/>
              </a:ext>
            </a:extLst>
          </p:cNvPr>
          <p:cNvSpPr txBox="1"/>
          <p:nvPr/>
        </p:nvSpPr>
        <p:spPr>
          <a:xfrm>
            <a:off x="740664" y="2939468"/>
            <a:ext cx="10706921" cy="2222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O Problema do Caixeiro Viajante (TSP) é um dos problemas de otimização combinatória mais relevantes para a logística, sendo classificado como NP-Hard. A computação quântica, particularmente o Quantum </a:t>
            </a:r>
            <a:r>
              <a:rPr lang="pt-BR" sz="1400" i="1" dirty="0" err="1">
                <a:solidFill>
                  <a:srgbClr val="2B2B2B"/>
                </a:solidFill>
                <a:latin typeface="Arial"/>
                <a:cs typeface="Arial"/>
              </a:rPr>
              <a:t>Annealing</a:t>
            </a: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 (QA), tem se destacado como abordagem promissora para enfrentar a complexidade computacional deste tipo de problema. Este trabalho apresenta uma revisão exploratória da literatura sobre a aplicação de algoritmos quânticos ao TSP e suas variantes em contextos logísticos. Foram executadas 26 </a:t>
            </a:r>
            <a:r>
              <a:rPr lang="pt-BR" sz="1400" i="1" dirty="0" err="1">
                <a:solidFill>
                  <a:srgbClr val="2B2B2B"/>
                </a:solidFill>
                <a:latin typeface="Arial"/>
                <a:cs typeface="Arial"/>
              </a:rPr>
              <a:t>strings</a:t>
            </a: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 de busca na base Lens.org, resultando em 3.696 artigos únicos após </a:t>
            </a:r>
            <a:r>
              <a:rPr lang="pt-BR" sz="1400" i="1" dirty="0" err="1">
                <a:solidFill>
                  <a:srgbClr val="2B2B2B"/>
                </a:solidFill>
                <a:latin typeface="Arial"/>
                <a:cs typeface="Arial"/>
              </a:rPr>
              <a:t>deduplicação</a:t>
            </a:r>
            <a:r>
              <a:rPr lang="pt-BR" sz="1400" i="1" dirty="0">
                <a:solidFill>
                  <a:srgbClr val="2B2B2B"/>
                </a:solidFill>
                <a:latin typeface="Arial"/>
                <a:cs typeface="Arial"/>
              </a:rPr>
              <a:t>. </a:t>
            </a:r>
            <a:r>
              <a:rPr lang="pt-BR" sz="1400" b="0" i="1" dirty="0">
                <a:solidFill>
                  <a:srgbClr val="2B2B2B"/>
                </a:solidFill>
                <a:latin typeface="Arial"/>
                <a:cs typeface="Arial"/>
              </a:rPr>
              <a:t>Os resultados indicam que o QA é o paradigma dominante, com destaque para a plataforma D-</a:t>
            </a:r>
            <a:r>
              <a:rPr lang="pt-BR" sz="1400" b="0" i="1" dirty="0" err="1">
                <a:solidFill>
                  <a:srgbClr val="2B2B2B"/>
                </a:solidFill>
                <a:latin typeface="Arial"/>
                <a:cs typeface="Arial"/>
              </a:rPr>
              <a:t>Wave</a:t>
            </a:r>
            <a:r>
              <a:rPr lang="pt-BR" sz="1400" b="0" i="1" dirty="0">
                <a:solidFill>
                  <a:srgbClr val="2B2B2B"/>
                </a:solidFill>
                <a:latin typeface="Arial"/>
                <a:cs typeface="Arial"/>
              </a:rPr>
              <a:t>. Identificaram-se lacunas significativas em abordagens gate-based e em aplicações de aprendizado de máquina quântico para roteamento logístico, apontando direções promissoras para pesquisas futuras.</a:t>
            </a:r>
            <a:endParaRPr sz="1400" b="0" i="1" dirty="0">
              <a:solidFill>
                <a:srgbClr val="2B2B2B"/>
              </a:solidFill>
              <a:latin typeface="Arial"/>
              <a:cs typeface="Arial"/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3C959F88-CBDB-688F-9AD4-8479E350EF12}"/>
              </a:ext>
            </a:extLst>
          </p:cNvPr>
          <p:cNvGrpSpPr/>
          <p:nvPr/>
        </p:nvGrpSpPr>
        <p:grpSpPr>
          <a:xfrm>
            <a:off x="667512" y="1721259"/>
            <a:ext cx="4050792" cy="1058918"/>
            <a:chOff x="667512" y="1598168"/>
            <a:chExt cx="4050792" cy="1058918"/>
          </a:xfrm>
        </p:grpSpPr>
        <p:sp>
          <p:nvSpPr>
            <p:cNvPr id="27" name="Rounded Rectangle 11">
              <a:extLst>
                <a:ext uri="{FF2B5EF4-FFF2-40B4-BE49-F238E27FC236}">
                  <a16:creationId xmlns:a16="http://schemas.microsoft.com/office/drawing/2014/main" id="{153A6DED-1D91-34DC-8381-7F595E87552B}"/>
                </a:ext>
              </a:extLst>
            </p:cNvPr>
            <p:cNvSpPr/>
            <p:nvPr/>
          </p:nvSpPr>
          <p:spPr>
            <a:xfrm>
              <a:off x="667512" y="1598168"/>
              <a:ext cx="3684680" cy="1048692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12">
              <a:extLst>
                <a:ext uri="{FF2B5EF4-FFF2-40B4-BE49-F238E27FC236}">
                  <a16:creationId xmlns:a16="http://schemas.microsoft.com/office/drawing/2014/main" id="{1FC3D898-EB47-19F0-15DC-263A356ED95D}"/>
                </a:ext>
              </a:extLst>
            </p:cNvPr>
            <p:cNvSpPr/>
            <p:nvPr/>
          </p:nvSpPr>
          <p:spPr>
            <a:xfrm>
              <a:off x="667512" y="1598168"/>
              <a:ext cx="73152" cy="1048692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8B7D831A-82D9-6FA0-17C4-96105DFBD292}"/>
                </a:ext>
              </a:extLst>
            </p:cNvPr>
            <p:cNvSpPr txBox="1"/>
            <p:nvPr/>
          </p:nvSpPr>
          <p:spPr>
            <a:xfrm>
              <a:off x="868680" y="1733095"/>
              <a:ext cx="3849624" cy="461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3000" b="1" i="0" dirty="0">
                  <a:solidFill>
                    <a:srgbClr val="0E2841"/>
                  </a:solidFill>
                  <a:latin typeface="Arial"/>
                  <a:cs typeface="Arial"/>
                </a:rPr>
                <a:t>26</a:t>
              </a:r>
              <a:endParaRPr sz="3000" b="1" i="0" dirty="0">
                <a:solidFill>
                  <a:srgbClr val="0E2841"/>
                </a:solidFill>
                <a:latin typeface="Arial"/>
                <a:cs typeface="Arial"/>
              </a:endParaRPr>
            </a:p>
          </p:txBody>
        </p:sp>
        <p:sp>
          <p:nvSpPr>
            <p:cNvPr id="30" name="TextBox 14">
              <a:extLst>
                <a:ext uri="{FF2B5EF4-FFF2-40B4-BE49-F238E27FC236}">
                  <a16:creationId xmlns:a16="http://schemas.microsoft.com/office/drawing/2014/main" id="{4F459F40-78F6-8FE2-BD0D-30990A5F20D3}"/>
                </a:ext>
              </a:extLst>
            </p:cNvPr>
            <p:cNvSpPr txBox="1"/>
            <p:nvPr/>
          </p:nvSpPr>
          <p:spPr>
            <a:xfrm>
              <a:off x="831752" y="2162207"/>
              <a:ext cx="3340022" cy="4948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400"/>
                </a:spcAft>
              </a:pPr>
              <a:r>
                <a:rPr lang="pt-BR" sz="1600" dirty="0" err="1">
                  <a:solidFill>
                    <a:srgbClr val="5E6670"/>
                  </a:solidFill>
                </a:rPr>
                <a:t>Strings</a:t>
              </a:r>
              <a:r>
                <a:rPr lang="pt-BR" sz="1600" dirty="0">
                  <a:solidFill>
                    <a:srgbClr val="5E6670"/>
                  </a:solidFill>
                </a:rPr>
                <a:t> de busca executadas na base Lens.org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4B6FA17B-E97E-DCAA-9601-0C1F994D096D}"/>
              </a:ext>
            </a:extLst>
          </p:cNvPr>
          <p:cNvGrpSpPr/>
          <p:nvPr/>
        </p:nvGrpSpPr>
        <p:grpSpPr>
          <a:xfrm>
            <a:off x="4809392" y="1711700"/>
            <a:ext cx="4050792" cy="1048692"/>
            <a:chOff x="667512" y="1598168"/>
            <a:chExt cx="4050792" cy="1048692"/>
          </a:xfrm>
        </p:grpSpPr>
        <p:sp>
          <p:nvSpPr>
            <p:cNvPr id="33" name="Rounded Rectangle 11">
              <a:extLst>
                <a:ext uri="{FF2B5EF4-FFF2-40B4-BE49-F238E27FC236}">
                  <a16:creationId xmlns:a16="http://schemas.microsoft.com/office/drawing/2014/main" id="{598F2820-D820-43A0-C68F-4982D50B75E8}"/>
                </a:ext>
              </a:extLst>
            </p:cNvPr>
            <p:cNvSpPr/>
            <p:nvPr/>
          </p:nvSpPr>
          <p:spPr>
            <a:xfrm>
              <a:off x="667512" y="1598168"/>
              <a:ext cx="3684680" cy="1048692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12">
              <a:extLst>
                <a:ext uri="{FF2B5EF4-FFF2-40B4-BE49-F238E27FC236}">
                  <a16:creationId xmlns:a16="http://schemas.microsoft.com/office/drawing/2014/main" id="{02941567-CEEB-E6AC-7EDD-E6759DA7233F}"/>
                </a:ext>
              </a:extLst>
            </p:cNvPr>
            <p:cNvSpPr/>
            <p:nvPr/>
          </p:nvSpPr>
          <p:spPr>
            <a:xfrm>
              <a:off x="667512" y="1598168"/>
              <a:ext cx="73152" cy="1048692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13">
              <a:extLst>
                <a:ext uri="{FF2B5EF4-FFF2-40B4-BE49-F238E27FC236}">
                  <a16:creationId xmlns:a16="http://schemas.microsoft.com/office/drawing/2014/main" id="{86A9E40F-4B7F-8AC3-34BD-AAF59B727D85}"/>
                </a:ext>
              </a:extLst>
            </p:cNvPr>
            <p:cNvSpPr txBox="1"/>
            <p:nvPr/>
          </p:nvSpPr>
          <p:spPr>
            <a:xfrm>
              <a:off x="868680" y="1707896"/>
              <a:ext cx="3849624" cy="5120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3000" b="1" i="0" dirty="0">
                  <a:solidFill>
                    <a:srgbClr val="0E2841"/>
                  </a:solidFill>
                  <a:latin typeface="Arial"/>
                  <a:cs typeface="Arial"/>
                </a:rPr>
                <a:t>3.696</a:t>
              </a: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55CFBCAB-7C72-3B2B-CAAD-48FA62945507}"/>
                </a:ext>
              </a:extLst>
            </p:cNvPr>
            <p:cNvSpPr txBox="1"/>
            <p:nvPr/>
          </p:nvSpPr>
          <p:spPr>
            <a:xfrm>
              <a:off x="839841" y="2165629"/>
              <a:ext cx="3340022" cy="4329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Artigos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únicos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analisados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(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após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 </a:t>
              </a:r>
              <a:r>
                <a:rPr b="0" dirty="0" err="1">
                  <a:solidFill>
                    <a:srgbClr val="5E6670"/>
                  </a:solidFill>
                  <a:latin typeface="Arial"/>
                  <a:cs typeface="Arial"/>
                </a:rPr>
                <a:t>deduplicação</a:t>
              </a:r>
              <a:r>
                <a:rPr b="0" dirty="0">
                  <a:solidFill>
                    <a:srgbClr val="5E6670"/>
                  </a:solidFill>
                  <a:latin typeface="Arial"/>
                  <a:cs typeface="Arial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pt-BR" sz="1100" b="1" dirty="0">
                <a:solidFill>
                  <a:srgbClr val="156082"/>
                </a:solidFill>
              </a:rP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92354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TSP: um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problema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NP-Har</a:t>
            </a:r>
            <a:r>
              <a:rPr lang="pt-BR" sz="2700" b="1" i="0" dirty="0">
                <a:solidFill>
                  <a:srgbClr val="0E2841"/>
                </a:solidFill>
                <a:latin typeface="Arial"/>
                <a:cs typeface="Arial"/>
              </a:rPr>
              <a:t>d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16525"/>
            <a:ext cx="5529072" cy="1812476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16524"/>
            <a:ext cx="5529072" cy="63431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" y="1808548"/>
            <a:ext cx="4663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O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Problema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do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Caixeiro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Viajante</a:t>
            </a:r>
            <a:endParaRPr sz="16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" y="2229172"/>
            <a:ext cx="5175504" cy="1041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Determinar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rota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menor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custo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que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visite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um conjunto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cidades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exatamente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uma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vez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retorne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à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origem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Classificado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NP-Hard — o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esforço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computacional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cresce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explosivamente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com o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número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cidades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5592" y="3550213"/>
            <a:ext cx="5550408" cy="2392875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5592" y="3550213"/>
            <a:ext cx="5550408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912" y="3742237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Da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teoria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ao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chão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  <a:cs typeface="Arial"/>
              </a:rPr>
              <a:t>logístico</a:t>
            </a:r>
            <a:r>
              <a:rPr sz="1600" b="1" i="0" dirty="0">
                <a:solidFill>
                  <a:srgbClr val="FFFFFF"/>
                </a:solidFill>
                <a:latin typeface="Arial"/>
                <a:cs typeface="Arial"/>
              </a:rPr>
              <a:t>: o TSPTW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20" y="4162861"/>
            <a:ext cx="5331388" cy="1635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O TSP com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Janelas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Tempo (TSPTW)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incorpora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restrições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temporais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atendimento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cada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cidade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Aproxima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o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modelo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cenários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reais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distribuição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urbana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roteamento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veículos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Variantes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correlatas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também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DDE6EF"/>
                </a:solidFill>
                <a:latin typeface="Arial"/>
                <a:cs typeface="Arial"/>
              </a:rPr>
              <a:t>relevantes</a:t>
            </a:r>
            <a:r>
              <a:rPr b="0" i="0" dirty="0">
                <a:solidFill>
                  <a:srgbClr val="DDE6EF"/>
                </a:solidFill>
                <a:latin typeface="Arial"/>
                <a:cs typeface="Arial"/>
              </a:rPr>
              <a:t>: VRP, CVRP, Job Shop Scheduling e Bin Packing.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3A49478-FBAA-F2DE-39FA-743AF9853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154" y="2135766"/>
            <a:ext cx="4987918" cy="29569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92354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Quantum Annealing: </a:t>
            </a:r>
            <a:r>
              <a:rPr lang="pt-BR" sz="2700" b="1" i="0" dirty="0">
                <a:solidFill>
                  <a:srgbClr val="0E2841"/>
                </a:solidFill>
                <a:latin typeface="Arial"/>
                <a:cs typeface="Arial"/>
              </a:rPr>
              <a:t>A tecnologia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04672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892068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Computação</a:t>
            </a: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quântica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273" y="3422420"/>
            <a:ext cx="2505456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Explora 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espaço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soluções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problemas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combinatórios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forma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mais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eficiente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que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métodos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clássicos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9652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21024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21024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892068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 Annealing (QA)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3422420"/>
            <a:ext cx="2377440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Usa 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tunelamento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quântico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para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buscar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estado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menor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energia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um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sistema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29652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37376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892068"/>
            <a:ext cx="2194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Formulação</a:t>
            </a: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 QUBO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422420"/>
            <a:ext cx="2377440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problema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é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codificado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Quadratic Unconstrained Binary Optimization (QUBO / Ising).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29652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34272" y="209653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53728" y="228856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53728" y="2288563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892068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Arial"/>
                <a:cs typeface="Arial"/>
              </a:rPr>
              <a:t>Hardware D-Wave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422420"/>
            <a:ext cx="2286000" cy="913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QUBO é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resolvido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em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processadores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quânticos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dedicados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,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como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plataforma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D-Wave.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" y="5138928"/>
            <a:ext cx="10981944" cy="987552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01134"/>
            <a:ext cx="10424160" cy="4631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5B7FB5"/>
                </a:solidFill>
                <a:latin typeface="Arial"/>
                <a:cs typeface="Arial"/>
              </a:rPr>
              <a:t>Referência-chave</a:t>
            </a:r>
            <a:r>
              <a:rPr lang="pt-BR" b="1" i="0" dirty="0">
                <a:solidFill>
                  <a:srgbClr val="5B7FB5"/>
                </a:solidFill>
                <a:latin typeface="Arial"/>
                <a:cs typeface="Arial"/>
              </a:rPr>
              <a:t>:</a:t>
            </a:r>
            <a:r>
              <a:rPr b="1" i="0" dirty="0">
                <a:solidFill>
                  <a:srgbClr val="5B7FB5"/>
                </a:solidFill>
                <a:latin typeface="Arial"/>
                <a:cs typeface="Arial"/>
              </a:rPr>
              <a:t> 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Salehi, Glos e Miszczak (2022)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propuseram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três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formulações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QUBO para o TSPTW,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demonstrando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viabilidade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codificar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variantes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realistas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do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problema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Arial"/>
                <a:cs typeface="Arial"/>
              </a:rPr>
              <a:t>dispositivos</a:t>
            </a:r>
            <a:r>
              <a:rPr b="0" i="0" dirty="0">
                <a:solidFill>
                  <a:srgbClr val="FFFFFF"/>
                </a:solidFill>
                <a:latin typeface="Arial"/>
                <a:cs typeface="Arial"/>
              </a:rPr>
              <a:t> de quantum annealing.</a:t>
            </a:r>
          </a:p>
        </p:txBody>
      </p:sp>
      <p:sp>
        <p:nvSpPr>
          <p:cNvPr id="36" name="TextBox 2">
            <a:extLst>
              <a:ext uri="{FF2B5EF4-FFF2-40B4-BE49-F238E27FC236}">
                <a16:creationId xmlns:a16="http://schemas.microsoft.com/office/drawing/2014/main" id="{4B608329-D877-423B-6303-B45B5365175B}"/>
              </a:ext>
            </a:extLst>
          </p:cNvPr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pt-BR" sz="1100" b="1" dirty="0">
                <a:solidFill>
                  <a:srgbClr val="156082"/>
                </a:solidFill>
              </a:rPr>
              <a:t>INTRODUÇÃO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AAD4-FDC8-784E-A845-C91ACDA8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588E3-0CD9-5702-8171-8D74429EE336}"/>
              </a:ext>
            </a:extLst>
          </p:cNvPr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233D0-D1F5-80BE-585F-F966D2C2A712}"/>
              </a:ext>
            </a:extLst>
          </p:cNvPr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OBJETIVO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21D7C-749B-C6A6-745F-A62D6B8A7156}"/>
              </a:ext>
            </a:extLst>
          </p:cNvPr>
          <p:cNvSpPr txBox="1"/>
          <p:nvPr/>
        </p:nvSpPr>
        <p:spPr>
          <a:xfrm>
            <a:off x="548640" y="889531"/>
            <a:ext cx="745236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A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pergunta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que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orienta</a:t>
            </a:r>
            <a:r>
              <a:rPr sz="2700" b="1" i="0" dirty="0">
                <a:solidFill>
                  <a:srgbClr val="0E2841"/>
                </a:solidFill>
                <a:latin typeface="Arial"/>
                <a:cs typeface="Arial"/>
              </a:rPr>
              <a:t> a </a:t>
            </a:r>
            <a:r>
              <a:rPr sz="2700" b="1" i="0" dirty="0" err="1">
                <a:solidFill>
                  <a:srgbClr val="0E2841"/>
                </a:solidFill>
                <a:latin typeface="Arial"/>
                <a:cs typeface="Arial"/>
              </a:rPr>
              <a:t>revisão</a:t>
            </a:r>
            <a:endParaRPr sz="27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79C82-613B-4051-68F2-559DD1967CD5}"/>
              </a:ext>
            </a:extLst>
          </p:cNvPr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>
            <a:extLst>
              <a:ext uri="{FF2B5EF4-FFF2-40B4-BE49-F238E27FC236}">
                <a16:creationId xmlns:a16="http://schemas.microsoft.com/office/drawing/2014/main" id="{ACEA75AC-D7C9-B8C1-3424-D7AFCC78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>
            <a:extLst>
              <a:ext uri="{FF2B5EF4-FFF2-40B4-BE49-F238E27FC236}">
                <a16:creationId xmlns:a16="http://schemas.microsoft.com/office/drawing/2014/main" id="{D3B2C16B-E366-C270-23FA-4822F5BDA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0BEAD7-1B40-E46A-1106-BEAC2C19ED29}"/>
              </a:ext>
            </a:extLst>
          </p:cNvPr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EDF9B-1BCA-37AC-955B-BA72575DAD2B}"/>
              </a:ext>
            </a:extLst>
          </p:cNvPr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57936-5A98-E2D7-6659-8BB8EAC752BE}"/>
              </a:ext>
            </a:extLst>
          </p:cNvPr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A59E3BE-02B9-D4CC-AB82-38BD2EDDE83A}"/>
              </a:ext>
            </a:extLst>
          </p:cNvPr>
          <p:cNvSpPr/>
          <p:nvPr/>
        </p:nvSpPr>
        <p:spPr>
          <a:xfrm>
            <a:off x="603504" y="1828800"/>
            <a:ext cx="7397496" cy="118872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672AB6-135D-38E0-E136-564F5128BE6F}"/>
              </a:ext>
            </a:extLst>
          </p:cNvPr>
          <p:cNvSpPr/>
          <p:nvPr/>
        </p:nvSpPr>
        <p:spPr>
          <a:xfrm>
            <a:off x="603504" y="1828800"/>
            <a:ext cx="82296" cy="1188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D06F8-12E7-3A8A-1E55-DB17E793A74A}"/>
              </a:ext>
            </a:extLst>
          </p:cNvPr>
          <p:cNvSpPr txBox="1"/>
          <p:nvPr/>
        </p:nvSpPr>
        <p:spPr>
          <a:xfrm>
            <a:off x="960120" y="2158503"/>
            <a:ext cx="7040880" cy="529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Qual o panorama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atual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da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aplicação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de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algoritmos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quânticos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— com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ênfase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em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Quantum Annealing —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ao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TSP e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suas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variantes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em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841"/>
                </a:solidFill>
                <a:latin typeface="Arial"/>
                <a:cs typeface="Arial"/>
              </a:rPr>
              <a:t>logística</a:t>
            </a:r>
            <a:r>
              <a:rPr sz="1600" b="1" i="0" dirty="0">
                <a:solidFill>
                  <a:srgbClr val="0E2841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72510-F127-C6B2-3EBB-3457CDE3714C}"/>
              </a:ext>
            </a:extLst>
          </p:cNvPr>
          <p:cNvSpPr txBox="1"/>
          <p:nvPr/>
        </p:nvSpPr>
        <p:spPr>
          <a:xfrm>
            <a:off x="569660" y="3657601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Para responder, a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revisão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busca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identificar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4FC82F-F689-8128-542A-B163BC58D625}"/>
              </a:ext>
            </a:extLst>
          </p:cNvPr>
          <p:cNvSpPr/>
          <p:nvPr/>
        </p:nvSpPr>
        <p:spPr>
          <a:xfrm>
            <a:off x="548640" y="4094310"/>
            <a:ext cx="2280373" cy="1700784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26048B-526A-B2D7-F96F-A670D7DA15F9}"/>
              </a:ext>
            </a:extLst>
          </p:cNvPr>
          <p:cNvSpPr/>
          <p:nvPr/>
        </p:nvSpPr>
        <p:spPr>
          <a:xfrm>
            <a:off x="548640" y="4094310"/>
            <a:ext cx="2280373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9E02B-5FF2-13B4-EF60-D1F32DE75F09}"/>
              </a:ext>
            </a:extLst>
          </p:cNvPr>
          <p:cNvSpPr txBox="1"/>
          <p:nvPr/>
        </p:nvSpPr>
        <p:spPr>
          <a:xfrm>
            <a:off x="804672" y="4277191"/>
            <a:ext cx="192762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VOLUME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3F4410-F202-2C4A-F3DC-D650385B00A0}"/>
              </a:ext>
            </a:extLst>
          </p:cNvPr>
          <p:cNvSpPr txBox="1"/>
          <p:nvPr/>
        </p:nvSpPr>
        <p:spPr>
          <a:xfrm>
            <a:off x="685800" y="4679527"/>
            <a:ext cx="2046498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O volume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produção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acadêmica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sobre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o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tema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B1F38D55-E197-7A2D-DADC-94BF072C2F82}"/>
              </a:ext>
            </a:extLst>
          </p:cNvPr>
          <p:cNvGrpSpPr/>
          <p:nvPr/>
        </p:nvGrpSpPr>
        <p:grpSpPr>
          <a:xfrm>
            <a:off x="3122501" y="4094310"/>
            <a:ext cx="2280373" cy="1700784"/>
            <a:chOff x="755904" y="3901439"/>
            <a:chExt cx="2280373" cy="1700784"/>
          </a:xfrm>
        </p:grpSpPr>
        <p:sp>
          <p:nvSpPr>
            <p:cNvPr id="27" name="Rounded Rectangle 14">
              <a:extLst>
                <a:ext uri="{FF2B5EF4-FFF2-40B4-BE49-F238E27FC236}">
                  <a16:creationId xmlns:a16="http://schemas.microsoft.com/office/drawing/2014/main" id="{6F43FAC4-0FB8-C0D0-C331-47642FC77299}"/>
                </a:ext>
              </a:extLst>
            </p:cNvPr>
            <p:cNvSpPr/>
            <p:nvPr/>
          </p:nvSpPr>
          <p:spPr>
            <a:xfrm>
              <a:off x="755904" y="3901439"/>
              <a:ext cx="2280373" cy="1700784"/>
            </a:xfrm>
            <a:prstGeom prst="roundRect">
              <a:avLst>
                <a:gd name="adj" fmla="val 7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921B6895-E9FA-1C93-2455-CF2EB65C1E05}"/>
                </a:ext>
              </a:extLst>
            </p:cNvPr>
            <p:cNvSpPr/>
            <p:nvPr/>
          </p:nvSpPr>
          <p:spPr>
            <a:xfrm>
              <a:off x="755904" y="3901439"/>
              <a:ext cx="2280373" cy="64008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066E7C5-15FB-0669-412F-4BA4255FA0E7}"/>
              </a:ext>
            </a:extLst>
          </p:cNvPr>
          <p:cNvSpPr txBox="1"/>
          <p:nvPr/>
        </p:nvSpPr>
        <p:spPr>
          <a:xfrm>
            <a:off x="3249813" y="4254164"/>
            <a:ext cx="16568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ALGORITMOS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3AB26B-EDD5-08E3-45B5-0D5D47F28AB1}"/>
              </a:ext>
            </a:extLst>
          </p:cNvPr>
          <p:cNvSpPr txBox="1"/>
          <p:nvPr/>
        </p:nvSpPr>
        <p:spPr>
          <a:xfrm>
            <a:off x="3182376" y="4632791"/>
            <a:ext cx="2220498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algoritmos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paradigmas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quânticos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mais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utilizados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80B4F407-D038-9389-1013-DE51368487D4}"/>
              </a:ext>
            </a:extLst>
          </p:cNvPr>
          <p:cNvGrpSpPr/>
          <p:nvPr/>
        </p:nvGrpSpPr>
        <p:grpSpPr>
          <a:xfrm>
            <a:off x="5586456" y="4094310"/>
            <a:ext cx="2280373" cy="1700784"/>
            <a:chOff x="755904" y="3901439"/>
            <a:chExt cx="2280373" cy="1700784"/>
          </a:xfrm>
        </p:grpSpPr>
        <p:sp>
          <p:nvSpPr>
            <p:cNvPr id="31" name="Rounded Rectangle 14">
              <a:extLst>
                <a:ext uri="{FF2B5EF4-FFF2-40B4-BE49-F238E27FC236}">
                  <a16:creationId xmlns:a16="http://schemas.microsoft.com/office/drawing/2014/main" id="{C537029E-9712-5A1A-89DE-89C14657D1C1}"/>
                </a:ext>
              </a:extLst>
            </p:cNvPr>
            <p:cNvSpPr/>
            <p:nvPr/>
          </p:nvSpPr>
          <p:spPr>
            <a:xfrm>
              <a:off x="755904" y="3901439"/>
              <a:ext cx="2280373" cy="1700784"/>
            </a:xfrm>
            <a:prstGeom prst="roundRect">
              <a:avLst>
                <a:gd name="adj" fmla="val 7000"/>
              </a:avLst>
            </a:prstGeom>
            <a:solidFill>
              <a:srgbClr val="F4F6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90B4E1C8-6ECC-B770-E69B-435755D8B863}"/>
                </a:ext>
              </a:extLst>
            </p:cNvPr>
            <p:cNvSpPr/>
            <p:nvPr/>
          </p:nvSpPr>
          <p:spPr>
            <a:xfrm>
              <a:off x="755904" y="3901439"/>
              <a:ext cx="2280373" cy="64008"/>
            </a:xfrm>
            <a:prstGeom prst="rect">
              <a:avLst/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CC6B0EF-E49F-38FC-3A99-3DE889BD255F}"/>
              </a:ext>
            </a:extLst>
          </p:cNvPr>
          <p:cNvSpPr txBox="1"/>
          <p:nvPr/>
        </p:nvSpPr>
        <p:spPr>
          <a:xfrm>
            <a:off x="5719925" y="4240795"/>
            <a:ext cx="214391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156082"/>
                </a:solidFill>
                <a:latin typeface="Arial"/>
                <a:cs typeface="Arial"/>
              </a:rPr>
              <a:t>LACUNAS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B51A9C-AE5D-84FF-7526-04935CE97CB2}"/>
              </a:ext>
            </a:extLst>
          </p:cNvPr>
          <p:cNvSpPr txBox="1"/>
          <p:nvPr/>
        </p:nvSpPr>
        <p:spPr>
          <a:xfrm>
            <a:off x="5696362" y="4656500"/>
            <a:ext cx="2167478" cy="46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As lacunas de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pesquisa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ainda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2B2B2B"/>
                </a:solidFill>
                <a:latin typeface="Arial"/>
                <a:cs typeface="Arial"/>
              </a:rPr>
              <a:t>existentes</a:t>
            </a:r>
            <a:r>
              <a:rPr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8026C65-ADEA-1329-9A3E-D76A036BF67A}"/>
              </a:ext>
            </a:extLst>
          </p:cNvPr>
          <p:cNvSpPr txBox="1"/>
          <p:nvPr/>
        </p:nvSpPr>
        <p:spPr>
          <a:xfrm>
            <a:off x="8571154" y="5642217"/>
            <a:ext cx="32634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Formulações matemáticas dos problemas discutidos.</a:t>
            </a:r>
          </a:p>
          <a:p>
            <a:r>
              <a:rPr lang="pt-BR" sz="1000" dirty="0"/>
              <a:t>Fonte: Imagem gerada por IA</a:t>
            </a: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91B867C8-C903-F16D-FEF4-B524C380A7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29"/>
          <a:stretch>
            <a:fillRect/>
          </a:stretch>
        </p:blipFill>
        <p:spPr>
          <a:xfrm>
            <a:off x="8183880" y="1623829"/>
            <a:ext cx="3851278" cy="401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50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347472"/>
            <a:ext cx="7680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700430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Como a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literatura</a:t>
            </a: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foi</a:t>
            </a: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mapeada</a:t>
            </a:r>
            <a:endParaRPr sz="32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37360"/>
            <a:ext cx="54924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Pesquisa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biblio</a:t>
            </a:r>
            <a:r>
              <a:rPr b="1" dirty="0" err="1">
                <a:solidFill>
                  <a:srgbClr val="2E5C8A"/>
                </a:solidFill>
              </a:rPr>
              <a:t>grá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fica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exploratória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em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três</a:t>
            </a:r>
            <a:r>
              <a:rPr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2E5C8A"/>
                </a:solidFill>
                <a:latin typeface="Arial"/>
                <a:cs typeface="Arial"/>
              </a:rPr>
              <a:t>eixos</a:t>
            </a:r>
            <a:r>
              <a:rPr lang="pt-BR" b="1" i="0" dirty="0">
                <a:solidFill>
                  <a:srgbClr val="2E5C8A"/>
                </a:solidFill>
                <a:latin typeface="Arial"/>
                <a:cs typeface="Arial"/>
              </a:rPr>
              <a:t>:</a:t>
            </a:r>
            <a:endParaRPr b="1" i="0" dirty="0">
              <a:solidFill>
                <a:srgbClr val="2E5C8A"/>
              </a:solidFill>
              <a:latin typeface="Arial"/>
              <a:cs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504" y="2087648"/>
            <a:ext cx="4851365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2087648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087648"/>
            <a:ext cx="175564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Arial"/>
                <a:cs typeface="Arial"/>
              </a:rPr>
              <a:t>1 · O </a:t>
            </a:r>
            <a:r>
              <a:rPr sz="1400" b="1" i="0" dirty="0" err="1">
                <a:solidFill>
                  <a:srgbClr val="0E2841"/>
                </a:solidFill>
                <a:latin typeface="Arial"/>
                <a:cs typeface="Arial"/>
              </a:rPr>
              <a:t>problema</a:t>
            </a:r>
            <a:endParaRPr sz="14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70048" y="2205691"/>
            <a:ext cx="2784821" cy="4405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TSP 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variantes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— VRP, CVRP, Job Shop Scheduling, Bin Packing.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874032"/>
            <a:ext cx="4851365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" y="2874032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2874032"/>
            <a:ext cx="175564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Arial"/>
                <a:cs typeface="Arial"/>
              </a:rPr>
              <a:t>2 · A </a:t>
            </a:r>
            <a:r>
              <a:rPr sz="1400" b="1" i="0" dirty="0" err="1">
                <a:solidFill>
                  <a:srgbClr val="0E2841"/>
                </a:solidFill>
                <a:latin typeface="Arial"/>
                <a:cs typeface="Arial"/>
              </a:rPr>
              <a:t>tecnologia</a:t>
            </a:r>
            <a:endParaRPr sz="14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70048" y="2992075"/>
            <a:ext cx="2784821" cy="4405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Paradigmas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quânticos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— QA, QAOA, VQE, Grover, QUBO/Ising.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660416"/>
            <a:ext cx="4851365" cy="676656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" y="3660416"/>
            <a:ext cx="73152" cy="67665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660416"/>
            <a:ext cx="175564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rial"/>
                <a:cs typeface="Arial"/>
              </a:rPr>
              <a:t>3 · A aplicação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778459"/>
            <a:ext cx="2706521" cy="4405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Logística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,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cadeia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suprimentos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otimização</a:t>
            </a:r>
            <a:r>
              <a:rPr b="0" i="0" dirty="0">
                <a:solidFill>
                  <a:srgbClr val="5E6670"/>
                </a:solidFill>
                <a:latin typeface="Arial"/>
                <a:cs typeface="Arial"/>
              </a:rPr>
              <a:t> de </a:t>
            </a:r>
            <a:r>
              <a:rPr b="0" i="0" dirty="0" err="1">
                <a:solidFill>
                  <a:srgbClr val="5E6670"/>
                </a:solidFill>
                <a:latin typeface="Arial"/>
                <a:cs typeface="Arial"/>
              </a:rPr>
              <a:t>rotas</a:t>
            </a: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.</a:t>
            </a:r>
            <a:endParaRPr b="0" i="0" dirty="0">
              <a:solidFill>
                <a:srgbClr val="5E6670"/>
              </a:solidFill>
              <a:latin typeface="Arial"/>
              <a:cs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79765" y="2087647"/>
            <a:ext cx="6428015" cy="4213397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4">
            <a:extLst>
              <a:ext uri="{FF2B5EF4-FFF2-40B4-BE49-F238E27FC236}">
                <a16:creationId xmlns:a16="http://schemas.microsoft.com/office/drawing/2014/main" id="{CC5C8BF5-D9C6-119B-2BA0-F34996872CC9}"/>
              </a:ext>
            </a:extLst>
          </p:cNvPr>
          <p:cNvSpPr/>
          <p:nvPr/>
        </p:nvSpPr>
        <p:spPr>
          <a:xfrm>
            <a:off x="608923" y="4455115"/>
            <a:ext cx="4845946" cy="184593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494DDD2-A208-5617-C6E0-1CA0B639887D}"/>
              </a:ext>
            </a:extLst>
          </p:cNvPr>
          <p:cNvSpPr txBox="1"/>
          <p:nvPr/>
        </p:nvSpPr>
        <p:spPr>
          <a:xfrm>
            <a:off x="579251" y="4338791"/>
            <a:ext cx="5020385" cy="2083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accent1"/>
                </a:solidFill>
              </a:rPr>
              <a:t>Passo a Passo: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Definição de eixos e </a:t>
            </a:r>
            <a:r>
              <a:rPr lang="pt-BR" dirty="0" err="1">
                <a:solidFill>
                  <a:schemeClr val="bg2"/>
                </a:solidFill>
              </a:rPr>
              <a:t>strings</a:t>
            </a:r>
            <a:r>
              <a:rPr lang="pt-BR" dirty="0">
                <a:solidFill>
                  <a:schemeClr val="bg2"/>
                </a:solidFill>
              </a:rPr>
              <a:t>: 16 originais + 10 derivadas.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Execução da Busca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Exportação das bases por string (.</a:t>
            </a:r>
            <a:r>
              <a:rPr lang="pt-BR" dirty="0" err="1">
                <a:solidFill>
                  <a:schemeClr val="bg2"/>
                </a:solidFill>
              </a:rPr>
              <a:t>csv</a:t>
            </a:r>
            <a:r>
              <a:rPr lang="pt-BR" dirty="0">
                <a:solidFill>
                  <a:schemeClr val="bg2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 err="1">
                <a:solidFill>
                  <a:schemeClr val="bg2"/>
                </a:solidFill>
              </a:rPr>
              <a:t>Deduplicação</a:t>
            </a:r>
            <a:r>
              <a:rPr lang="pt-BR" dirty="0">
                <a:solidFill>
                  <a:schemeClr val="bg2"/>
                </a:solidFill>
              </a:rPr>
              <a:t>: Duplicadas por DOI e título;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2"/>
                </a:solidFill>
              </a:rPr>
              <a:t>Análise bibliométrica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77B6F854-AC67-3C5F-754C-C3029C6943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87"/>
          <a:stretch>
            <a:fillRect/>
          </a:stretch>
        </p:blipFill>
        <p:spPr>
          <a:xfrm>
            <a:off x="5659653" y="2660373"/>
            <a:ext cx="6256626" cy="28278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3504" y="6080760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E2841"/>
                </a:solidFill>
              </a:rPr>
              <a:t>(A) Corpus bibliométrico (n=3.696, Lens.org)   ·   (B) Amostra Phillipson 2025 (n=129) — caracterizam o campo em escalas diferentes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567984" y="2926435"/>
            <a:ext cx="2670048" cy="1020259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4">
            <a:extLst>
              <a:ext uri="{FF2B5EF4-FFF2-40B4-BE49-F238E27FC236}">
                <a16:creationId xmlns:a16="http://schemas.microsoft.com/office/drawing/2014/main" id="{AD7C959F-1A04-F6B7-4315-62D3887E6D6F}"/>
              </a:ext>
            </a:extLst>
          </p:cNvPr>
          <p:cNvSpPr/>
          <p:nvPr/>
        </p:nvSpPr>
        <p:spPr>
          <a:xfrm>
            <a:off x="3401216" y="1773936"/>
            <a:ext cx="8485984" cy="4464303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27425"/>
            <a:ext cx="290286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i="0" dirty="0">
                <a:solidFill>
                  <a:srgbClr val="156082"/>
                </a:solidFill>
                <a:latin typeface="Arial"/>
                <a:cs typeface="Arial"/>
              </a:rPr>
              <a:t>-</a:t>
            </a: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718718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Panorama: um campo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em</a:t>
            </a:r>
            <a:r>
              <a:rPr sz="3200" b="1" i="0" dirty="0">
                <a:solidFill>
                  <a:srgbClr val="0E2841"/>
                </a:solidFill>
                <a:latin typeface="Arial"/>
                <a:cs typeface="Arial"/>
              </a:rPr>
              <a:t> </a:t>
            </a:r>
            <a:r>
              <a:rPr sz="3200" b="1" i="0" dirty="0" err="1">
                <a:solidFill>
                  <a:srgbClr val="0E2841"/>
                </a:solidFill>
                <a:latin typeface="Arial"/>
                <a:cs typeface="Arial"/>
              </a:rPr>
              <a:t>expansão</a:t>
            </a:r>
            <a:endParaRPr sz="32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336" y="1773936"/>
            <a:ext cx="2670048" cy="1044033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1920" y="1856111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i="0" dirty="0">
                <a:solidFill>
                  <a:srgbClr val="0E2841"/>
                </a:solidFill>
                <a:latin typeface="Arial"/>
                <a:cs typeface="Arial"/>
              </a:rPr>
              <a:t>5.320</a:t>
            </a:r>
            <a:endParaRPr sz="30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1920" y="2334888"/>
            <a:ext cx="2340864" cy="4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Registros brutos 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recuperados nas 26 </a:t>
            </a:r>
            <a:r>
              <a:rPr lang="pt-BR" b="0" i="0" dirty="0" err="1">
                <a:solidFill>
                  <a:srgbClr val="5E6670"/>
                </a:solidFill>
                <a:latin typeface="Arial"/>
                <a:cs typeface="Arial"/>
              </a:rPr>
              <a:t>strings</a:t>
            </a:r>
            <a:endParaRPr lang="pt-BR" b="0" i="0" dirty="0">
              <a:solidFill>
                <a:srgbClr val="5E6670"/>
              </a:solidFill>
              <a:latin typeface="Arial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152" y="2999818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i="0" dirty="0">
                <a:solidFill>
                  <a:srgbClr val="0E2841"/>
                </a:solidFill>
                <a:latin typeface="Arial"/>
                <a:cs typeface="Arial"/>
              </a:rPr>
              <a:t>3.696</a:t>
            </a:r>
            <a:endParaRPr sz="3000"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152" y="3452219"/>
            <a:ext cx="2202648" cy="4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Artigos únicos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 após </a:t>
            </a:r>
            <a:r>
              <a:rPr lang="pt-BR" b="0" i="0" dirty="0" err="1">
                <a:solidFill>
                  <a:srgbClr val="5E6670"/>
                </a:solidFill>
                <a:latin typeface="Arial"/>
                <a:cs typeface="Arial"/>
              </a:rPr>
              <a:t>deduplicação</a:t>
            </a:r>
            <a:r>
              <a:rPr lang="pt-BR" b="0" i="0" dirty="0">
                <a:solidFill>
                  <a:srgbClr val="5E6670"/>
                </a:solidFill>
                <a:latin typeface="Arial"/>
                <a:cs typeface="Arial"/>
              </a:rPr>
              <a:t> (30,5%) </a:t>
            </a:r>
            <a:endParaRPr b="0" i="0" dirty="0">
              <a:solidFill>
                <a:srgbClr val="5E6670"/>
              </a:solidFill>
              <a:latin typeface="Arial"/>
              <a:cs typeface="Arial"/>
            </a:endParaRPr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D91030AA-8C49-E37C-2A45-203A50A80D27}"/>
              </a:ext>
            </a:extLst>
          </p:cNvPr>
          <p:cNvSpPr/>
          <p:nvPr/>
        </p:nvSpPr>
        <p:spPr>
          <a:xfrm>
            <a:off x="572204" y="2938571"/>
            <a:ext cx="68932" cy="102026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FDFF69C0-88E6-184C-2012-75252D0E684F}"/>
              </a:ext>
            </a:extLst>
          </p:cNvPr>
          <p:cNvSpPr/>
          <p:nvPr/>
        </p:nvSpPr>
        <p:spPr>
          <a:xfrm>
            <a:off x="583988" y="1797709"/>
            <a:ext cx="68932" cy="102026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CF5AC660-21F0-62E8-6FD6-9356120FB8C9}"/>
              </a:ext>
            </a:extLst>
          </p:cNvPr>
          <p:cNvGrpSpPr/>
          <p:nvPr/>
        </p:nvGrpSpPr>
        <p:grpSpPr>
          <a:xfrm>
            <a:off x="559368" y="5219313"/>
            <a:ext cx="2670048" cy="1032396"/>
            <a:chOff x="603152" y="2926435"/>
            <a:chExt cx="2670048" cy="1032396"/>
          </a:xfrm>
        </p:grpSpPr>
        <p:sp>
          <p:nvSpPr>
            <p:cNvPr id="35" name="Rounded Rectangle 14">
              <a:extLst>
                <a:ext uri="{FF2B5EF4-FFF2-40B4-BE49-F238E27FC236}">
                  <a16:creationId xmlns:a16="http://schemas.microsoft.com/office/drawing/2014/main" id="{11A17A37-5908-FB0B-70AB-A66C73F78A46}"/>
                </a:ext>
              </a:extLst>
            </p:cNvPr>
            <p:cNvSpPr/>
            <p:nvPr/>
          </p:nvSpPr>
          <p:spPr>
            <a:xfrm>
              <a:off x="603152" y="2926435"/>
              <a:ext cx="2670048" cy="1020259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11">
              <a:extLst>
                <a:ext uri="{FF2B5EF4-FFF2-40B4-BE49-F238E27FC236}">
                  <a16:creationId xmlns:a16="http://schemas.microsoft.com/office/drawing/2014/main" id="{B7948D6D-1F05-1CEC-E095-11E8DB71B991}"/>
                </a:ext>
              </a:extLst>
            </p:cNvPr>
            <p:cNvSpPr/>
            <p:nvPr/>
          </p:nvSpPr>
          <p:spPr>
            <a:xfrm>
              <a:off x="607372" y="2938571"/>
              <a:ext cx="68932" cy="1020260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9DEC7B8B-C42F-394C-AD18-F6FD38E2EAF6}"/>
              </a:ext>
            </a:extLst>
          </p:cNvPr>
          <p:cNvGrpSpPr/>
          <p:nvPr/>
        </p:nvGrpSpPr>
        <p:grpSpPr>
          <a:xfrm>
            <a:off x="559368" y="4061921"/>
            <a:ext cx="2670048" cy="1032396"/>
            <a:chOff x="603152" y="2926435"/>
            <a:chExt cx="2670048" cy="1032396"/>
          </a:xfrm>
        </p:grpSpPr>
        <p:sp>
          <p:nvSpPr>
            <p:cNvPr id="38" name="Rounded Rectangle 14">
              <a:extLst>
                <a:ext uri="{FF2B5EF4-FFF2-40B4-BE49-F238E27FC236}">
                  <a16:creationId xmlns:a16="http://schemas.microsoft.com/office/drawing/2014/main" id="{8739C3D3-3389-17C7-D578-8697235C32B1}"/>
                </a:ext>
              </a:extLst>
            </p:cNvPr>
            <p:cNvSpPr/>
            <p:nvPr/>
          </p:nvSpPr>
          <p:spPr>
            <a:xfrm>
              <a:off x="603152" y="2926435"/>
              <a:ext cx="2670048" cy="1020259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11">
              <a:extLst>
                <a:ext uri="{FF2B5EF4-FFF2-40B4-BE49-F238E27FC236}">
                  <a16:creationId xmlns:a16="http://schemas.microsoft.com/office/drawing/2014/main" id="{CB896590-B899-5122-FAAA-FF952486ECF0}"/>
                </a:ext>
              </a:extLst>
            </p:cNvPr>
            <p:cNvSpPr/>
            <p:nvPr/>
          </p:nvSpPr>
          <p:spPr>
            <a:xfrm>
              <a:off x="607372" y="2938571"/>
              <a:ext cx="68932" cy="1020260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1" name="TextBox 24">
            <a:extLst>
              <a:ext uri="{FF2B5EF4-FFF2-40B4-BE49-F238E27FC236}">
                <a16:creationId xmlns:a16="http://schemas.microsoft.com/office/drawing/2014/main" id="{13421EB4-0381-6423-2434-BE9155CE6334}"/>
              </a:ext>
            </a:extLst>
          </p:cNvPr>
          <p:cNvSpPr txBox="1"/>
          <p:nvPr/>
        </p:nvSpPr>
        <p:spPr>
          <a:xfrm>
            <a:off x="751920" y="5270689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dirty="0">
                <a:solidFill>
                  <a:srgbClr val="0E2841"/>
                </a:solidFill>
              </a:rPr>
              <a:t>61</a:t>
            </a:r>
            <a:r>
              <a:rPr sz="3000" b="1" i="0" dirty="0">
                <a:solidFill>
                  <a:srgbClr val="0E2841"/>
                </a:solidFill>
                <a:latin typeface="Arial"/>
                <a:cs typeface="Arial"/>
              </a:rPr>
              <a:t>,</a:t>
            </a:r>
            <a:r>
              <a:rPr lang="pt-BR" sz="3000" b="1" i="0" dirty="0">
                <a:solidFill>
                  <a:srgbClr val="0E2841"/>
                </a:solidFill>
                <a:latin typeface="Arial"/>
                <a:cs typeface="Arial"/>
              </a:rPr>
              <a:t>7</a:t>
            </a:r>
            <a:r>
              <a:rPr sz="3000" b="1" i="0" dirty="0">
                <a:solidFill>
                  <a:srgbClr val="0E2841"/>
                </a:solidFill>
                <a:latin typeface="Arial"/>
                <a:cs typeface="Arial"/>
              </a:rPr>
              <a:t>%</a:t>
            </a: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D672D946-3DB9-2BB4-9E1F-2ECDE6882455}"/>
              </a:ext>
            </a:extLst>
          </p:cNvPr>
          <p:cNvSpPr txBox="1"/>
          <p:nvPr/>
        </p:nvSpPr>
        <p:spPr>
          <a:xfrm>
            <a:off x="723960" y="5753924"/>
            <a:ext cx="2340864" cy="425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Publicados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a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partir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de 2020 —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pico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em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2025</a:t>
            </a:r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B30C10FF-8BBB-97D5-BFD9-480CE52BCC47}"/>
              </a:ext>
            </a:extLst>
          </p:cNvPr>
          <p:cNvSpPr txBox="1"/>
          <p:nvPr/>
        </p:nvSpPr>
        <p:spPr>
          <a:xfrm>
            <a:off x="774516" y="4096523"/>
            <a:ext cx="2340864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000" b="1" dirty="0">
                <a:solidFill>
                  <a:srgbClr val="0E2841"/>
                </a:solidFill>
              </a:rPr>
              <a:t>~80</a:t>
            </a:r>
            <a:r>
              <a:rPr sz="3000" b="1" i="0" dirty="0">
                <a:solidFill>
                  <a:srgbClr val="0E2841"/>
                </a:solidFill>
                <a:latin typeface="Arial"/>
                <a:cs typeface="Arial"/>
              </a:rPr>
              <a:t>%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AE4E5238-6BF4-069D-0523-D8FBFDE74FDF}"/>
              </a:ext>
            </a:extLst>
          </p:cNvPr>
          <p:cNvSpPr txBox="1"/>
          <p:nvPr/>
        </p:nvSpPr>
        <p:spPr>
          <a:xfrm>
            <a:off x="732681" y="4579758"/>
            <a:ext cx="2239120" cy="425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São</a:t>
            </a:r>
            <a:r>
              <a:rPr lang="pt-BR" dirty="0">
                <a:solidFill>
                  <a:srgbClr val="6B727B"/>
                </a:solidFill>
              </a:rPr>
              <a:t> dos tipos:</a:t>
            </a: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 jornal </a:t>
            </a:r>
            <a:r>
              <a:rPr lang="pt-BR" b="0" i="0" dirty="0" err="1">
                <a:solidFill>
                  <a:srgbClr val="6B727B"/>
                </a:solidFill>
                <a:latin typeface="Arial"/>
                <a:cs typeface="Arial"/>
              </a:rPr>
              <a:t>article</a:t>
            </a:r>
            <a:r>
              <a:rPr lang="pt-BR" b="0" i="0" dirty="0">
                <a:solidFill>
                  <a:srgbClr val="6B727B"/>
                </a:solidFill>
                <a:latin typeface="Arial"/>
                <a:cs typeface="Arial"/>
              </a:rPr>
              <a:t> e </a:t>
            </a:r>
            <a:r>
              <a:rPr lang="pt-BR" b="0" i="0" dirty="0" err="1">
                <a:solidFill>
                  <a:srgbClr val="6B727B"/>
                </a:solidFill>
                <a:latin typeface="Arial"/>
                <a:cs typeface="Arial"/>
              </a:rPr>
              <a:t>peprint</a:t>
            </a:r>
            <a:endParaRPr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508CCB85-17F7-C495-1302-CFBEC31E6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848" y="2140140"/>
            <a:ext cx="8166786" cy="3637381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7589520" y="960120"/>
            <a:ext cx="3931920" cy="365760"/>
          </a:xfrm>
          <a:prstGeom prst="roundRect">
            <a:avLst/>
          </a:prstGeom>
          <a:solidFill>
            <a:srgbClr val="3C6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(A)  Corpus bibliométrico  ·  n=3.696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E18BC-2351-C72E-ED91-2D65EF2E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365BAE-E925-3E4F-5F01-72E426DA5F92}"/>
              </a:ext>
            </a:extLst>
          </p:cNvPr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5CAEB-95D9-DB1E-652C-22CAAB42E3BE}"/>
              </a:ext>
            </a:extLst>
          </p:cNvPr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dirty="0">
                <a:solidFill>
                  <a:srgbClr val="156082"/>
                </a:solidFill>
              </a:rPr>
              <a:t>- 3</a:t>
            </a:r>
            <a:endParaRPr sz="11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F6277-DAAF-ADAA-2137-65F1D83137BE}"/>
              </a:ext>
            </a:extLst>
          </p:cNvPr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O paradigma dominante: Quantum Annealing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914DF5-90C3-1055-E4A1-FA1953BFEDAE}"/>
              </a:ext>
            </a:extLst>
          </p:cNvPr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>
            <a:extLst>
              <a:ext uri="{FF2B5EF4-FFF2-40B4-BE49-F238E27FC236}">
                <a16:creationId xmlns:a16="http://schemas.microsoft.com/office/drawing/2014/main" id="{0DD9E6BB-3C32-095A-9772-C6161A72B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>
            <a:extLst>
              <a:ext uri="{FF2B5EF4-FFF2-40B4-BE49-F238E27FC236}">
                <a16:creationId xmlns:a16="http://schemas.microsoft.com/office/drawing/2014/main" id="{13ECBDE6-7217-32D3-7D2F-F68414BA9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8DAAC6-FCE8-6576-D328-968429E88A0C}"/>
              </a:ext>
            </a:extLst>
          </p:cNvPr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81004-0ED6-A3E7-7325-82D2E9A4F49A}"/>
              </a:ext>
            </a:extLst>
          </p:cNvPr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74BF18-2D46-A0C8-47AC-78A5FC84DEFC}"/>
              </a:ext>
            </a:extLst>
          </p:cNvPr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5F5730D-2AA2-DD95-F2DD-A8C7CEF51B37}"/>
              </a:ext>
            </a:extLst>
          </p:cNvPr>
          <p:cNvSpPr/>
          <p:nvPr/>
        </p:nvSpPr>
        <p:spPr>
          <a:xfrm>
            <a:off x="566928" y="1647351"/>
            <a:ext cx="2615184" cy="1292117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9D68E2-2576-8965-E01A-7EFADE9D7862}"/>
              </a:ext>
            </a:extLst>
          </p:cNvPr>
          <p:cNvSpPr/>
          <p:nvPr/>
        </p:nvSpPr>
        <p:spPr>
          <a:xfrm>
            <a:off x="566928" y="1641810"/>
            <a:ext cx="64008" cy="128562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535A19-68E5-B6E1-828F-5977C4966193}"/>
              </a:ext>
            </a:extLst>
          </p:cNvPr>
          <p:cNvSpPr txBox="1"/>
          <p:nvPr/>
        </p:nvSpPr>
        <p:spPr>
          <a:xfrm>
            <a:off x="731520" y="1790419"/>
            <a:ext cx="2340864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300" b="1" dirty="0">
                <a:solidFill>
                  <a:srgbClr val="0E2841"/>
                </a:solidFill>
              </a:rPr>
              <a:t>1.117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E36D9-059D-6A8F-F004-410CC6763C3A}"/>
              </a:ext>
            </a:extLst>
          </p:cNvPr>
          <p:cNvSpPr txBox="1"/>
          <p:nvPr/>
        </p:nvSpPr>
        <p:spPr>
          <a:xfrm>
            <a:off x="731520" y="2223094"/>
            <a:ext cx="2450592" cy="645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Menções a QA no corpus bibliométrico (6 das 26 strings)</a:t>
            </a:r>
            <a:endParaRPr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11641A5-0F62-82D2-62AC-87A84CF0BCDD}"/>
              </a:ext>
            </a:extLst>
          </p:cNvPr>
          <p:cNvSpPr/>
          <p:nvPr/>
        </p:nvSpPr>
        <p:spPr>
          <a:xfrm>
            <a:off x="548640" y="3155881"/>
            <a:ext cx="5134356" cy="3090206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591F24F-AA31-5EAE-F6D8-688306B08C1F}"/>
              </a:ext>
            </a:extLst>
          </p:cNvPr>
          <p:cNvSpPr/>
          <p:nvPr/>
        </p:nvSpPr>
        <p:spPr>
          <a:xfrm>
            <a:off x="5813428" y="3166705"/>
            <a:ext cx="5918323" cy="2949853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C932C4-6330-73F2-3710-96BB1D0B6033}"/>
              </a:ext>
            </a:extLst>
          </p:cNvPr>
          <p:cNvSpPr txBox="1"/>
          <p:nvPr/>
        </p:nvSpPr>
        <p:spPr>
          <a:xfrm>
            <a:off x="1650492" y="8171298"/>
            <a:ext cx="5385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Distribuição por paradigma (acima) e algoritmos mais frequentes (abaixo) — amostra de 129 trabalhos classificados em Phillipson (2025).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F885300E-35DA-B75C-F9CC-CDC7EE3CD5D3}"/>
              </a:ext>
            </a:extLst>
          </p:cNvPr>
          <p:cNvGrpSpPr/>
          <p:nvPr/>
        </p:nvGrpSpPr>
        <p:grpSpPr>
          <a:xfrm>
            <a:off x="4457700" y="1622732"/>
            <a:ext cx="2578608" cy="1316736"/>
            <a:chOff x="3364992" y="1737360"/>
            <a:chExt cx="2578608" cy="1316736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93D40F1-DB04-2D4C-0B2C-3025E318D45E}"/>
                </a:ext>
              </a:extLst>
            </p:cNvPr>
            <p:cNvSpPr/>
            <p:nvPr/>
          </p:nvSpPr>
          <p:spPr>
            <a:xfrm>
              <a:off x="3364992" y="1761979"/>
              <a:ext cx="2578608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4EC35C-35E9-B54B-3DE2-4D663B4787C1}"/>
                </a:ext>
              </a:extLst>
            </p:cNvPr>
            <p:cNvSpPr txBox="1"/>
            <p:nvPr/>
          </p:nvSpPr>
          <p:spPr>
            <a:xfrm>
              <a:off x="3529584" y="1853419"/>
              <a:ext cx="2304288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2300" b="1" i="0">
                  <a:solidFill>
                    <a:srgbClr val="2E5C8A"/>
                  </a:solidFill>
                  <a:latin typeface="Arial"/>
                  <a:cs typeface="Arial"/>
                </a:rPr>
                <a:t>≈ 150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56FA14-4B93-19C5-2E8C-0229B5B311F9}"/>
                </a:ext>
              </a:extLst>
            </p:cNvPr>
            <p:cNvSpPr txBox="1"/>
            <p:nvPr/>
          </p:nvSpPr>
          <p:spPr>
            <a:xfrm>
              <a:off x="3529584" y="2327449"/>
              <a:ext cx="2304288" cy="6451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b="0" i="0" dirty="0" err="1">
                  <a:solidFill>
                    <a:srgbClr val="6B727B"/>
                  </a:solidFill>
                  <a:latin typeface="Arial"/>
                  <a:cs typeface="Arial"/>
                </a:rPr>
                <a:t>Artigos</a:t>
              </a:r>
              <a:r>
                <a:rPr b="0" i="0" dirty="0">
                  <a:solidFill>
                    <a:srgbClr val="6B727B"/>
                  </a:solidFill>
                  <a:latin typeface="Arial"/>
                  <a:cs typeface="Arial"/>
                </a:rPr>
                <a:t> 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de algoritmos variacionais gate</a:t>
              </a:r>
              <a:r>
                <a:rPr lang="pt-BR" dirty="0">
                  <a:solidFill>
                    <a:srgbClr val="6B727B"/>
                  </a:solidFill>
                </a:rPr>
                <a:t>-based (</a:t>
              </a:r>
              <a:r>
                <a:rPr b="0" i="0" dirty="0">
                  <a:solidFill>
                    <a:srgbClr val="6B727B"/>
                  </a:solidFill>
                  <a:latin typeface="Arial"/>
                  <a:cs typeface="Arial"/>
                </a:rPr>
                <a:t>QAOA / VQE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)</a:t>
              </a:r>
              <a:r>
                <a:rPr lang="pt-BR" dirty="0">
                  <a:solidFill>
                    <a:srgbClr val="6B727B"/>
                  </a:solidFill>
                </a:rPr>
                <a:t>.</a:t>
              </a: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  <p:sp>
          <p:nvSpPr>
            <p:cNvPr id="25" name="Rounded Rectangle 12">
              <a:extLst>
                <a:ext uri="{FF2B5EF4-FFF2-40B4-BE49-F238E27FC236}">
                  <a16:creationId xmlns:a16="http://schemas.microsoft.com/office/drawing/2014/main" id="{59E2E33F-2E66-8891-E19F-D04A818BA99A}"/>
                </a:ext>
              </a:extLst>
            </p:cNvPr>
            <p:cNvSpPr/>
            <p:nvPr/>
          </p:nvSpPr>
          <p:spPr>
            <a:xfrm>
              <a:off x="3383280" y="1737360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6C4C7AB-ECB4-3F88-7C87-4F06C80BE623}"/>
              </a:ext>
            </a:extLst>
          </p:cNvPr>
          <p:cNvGrpSpPr/>
          <p:nvPr/>
        </p:nvGrpSpPr>
        <p:grpSpPr>
          <a:xfrm>
            <a:off x="8183880" y="1621613"/>
            <a:ext cx="2743200" cy="1455140"/>
            <a:chOff x="6382512" y="1737220"/>
            <a:chExt cx="2743200" cy="1455140"/>
          </a:xfrm>
        </p:grpSpPr>
        <p:sp>
          <p:nvSpPr>
            <p:cNvPr id="26" name="Rounded Rectangle 15">
              <a:extLst>
                <a:ext uri="{FF2B5EF4-FFF2-40B4-BE49-F238E27FC236}">
                  <a16:creationId xmlns:a16="http://schemas.microsoft.com/office/drawing/2014/main" id="{E15C7F77-94CC-0221-1ACA-D56349654EEA}"/>
                </a:ext>
              </a:extLst>
            </p:cNvPr>
            <p:cNvSpPr/>
            <p:nvPr/>
          </p:nvSpPr>
          <p:spPr>
            <a:xfrm>
              <a:off x="6382512" y="1771123"/>
              <a:ext cx="2743200" cy="1292117"/>
            </a:xfrm>
            <a:prstGeom prst="roundRect">
              <a:avLst>
                <a:gd name="adj" fmla="val 10000"/>
              </a:avLst>
            </a:prstGeom>
            <a:solidFill>
              <a:srgbClr val="ECF1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4F6C91A-F441-1434-BE4B-4685C3DFA51E}"/>
                </a:ext>
              </a:extLst>
            </p:cNvPr>
            <p:cNvSpPr txBox="1"/>
            <p:nvPr/>
          </p:nvSpPr>
          <p:spPr>
            <a:xfrm>
              <a:off x="6547104" y="1737220"/>
              <a:ext cx="2304288" cy="70788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sz="2300" b="1" i="0" dirty="0">
                  <a:solidFill>
                    <a:srgbClr val="2E5C8A"/>
                  </a:solidFill>
                  <a:latin typeface="Arial"/>
                  <a:cs typeface="Arial"/>
                </a:rPr>
                <a:t>D-</a:t>
              </a:r>
              <a:r>
                <a:rPr lang="pt-BR" sz="2300" b="1" i="0" dirty="0" err="1">
                  <a:solidFill>
                    <a:srgbClr val="2E5C8A"/>
                  </a:solidFill>
                  <a:latin typeface="Arial"/>
                  <a:cs typeface="Arial"/>
                </a:rPr>
                <a:t>Wave</a:t>
              </a:r>
              <a:r>
                <a:rPr lang="pt-BR" sz="2300" b="1" i="0" dirty="0">
                  <a:solidFill>
                    <a:srgbClr val="2E5C8A"/>
                  </a:solidFill>
                  <a:latin typeface="Arial"/>
                  <a:cs typeface="Arial"/>
                </a:rPr>
                <a:t> Advantage</a:t>
              </a:r>
              <a:endParaRPr sz="2300" b="1" i="0" dirty="0">
                <a:solidFill>
                  <a:srgbClr val="2E5C8A"/>
                </a:solidFill>
                <a:latin typeface="Arial"/>
                <a:cs typeface="Arial"/>
              </a:endParaRPr>
            </a:p>
          </p:txBody>
        </p:sp>
        <p:sp>
          <p:nvSpPr>
            <p:cNvPr id="28" name="TextBox 18">
              <a:extLst>
                <a:ext uri="{FF2B5EF4-FFF2-40B4-BE49-F238E27FC236}">
                  <a16:creationId xmlns:a16="http://schemas.microsoft.com/office/drawing/2014/main" id="{55805795-A5D0-F7BE-1046-6FD2A43CB8A0}"/>
                </a:ext>
              </a:extLst>
            </p:cNvPr>
            <p:cNvSpPr txBox="1"/>
            <p:nvPr/>
          </p:nvSpPr>
          <p:spPr>
            <a:xfrm>
              <a:off x="6547104" y="2495887"/>
              <a:ext cx="2578608" cy="6964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Hardware de referência com 5.640 </a:t>
              </a:r>
              <a:r>
                <a:rPr lang="pt-BR" b="0" i="0" dirty="0" err="1">
                  <a:solidFill>
                    <a:srgbClr val="6B727B"/>
                  </a:solidFill>
                  <a:latin typeface="Arial"/>
                  <a:cs typeface="Arial"/>
                </a:rPr>
                <a:t>qubits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 e </a:t>
              </a:r>
              <a:r>
                <a:rPr lang="pt-BR" b="0" i="0" dirty="0" err="1">
                  <a:solidFill>
                    <a:srgbClr val="6B727B"/>
                  </a:solidFill>
                  <a:latin typeface="Arial"/>
                  <a:cs typeface="Arial"/>
                </a:rPr>
                <a:t>conect</a:t>
              </a:r>
              <a:r>
                <a:rPr lang="pt-BR" b="0" i="0" dirty="0">
                  <a:solidFill>
                    <a:srgbClr val="6B727B"/>
                  </a:solidFill>
                  <a:latin typeface="Arial"/>
                  <a:cs typeface="Arial"/>
                </a:rPr>
                <a:t>. Pegasus.</a:t>
              </a:r>
            </a:p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400"/>
                </a:spcAft>
              </a:pPr>
              <a:endParaRPr b="0" i="0" dirty="0">
                <a:solidFill>
                  <a:srgbClr val="6B727B"/>
                </a:solidFill>
                <a:latin typeface="Arial"/>
                <a:cs typeface="Arial"/>
              </a:endParaRPr>
            </a:p>
          </p:txBody>
        </p:sp>
        <p:sp>
          <p:nvSpPr>
            <p:cNvPr id="29" name="Rounded Rectangle 12">
              <a:extLst>
                <a:ext uri="{FF2B5EF4-FFF2-40B4-BE49-F238E27FC236}">
                  <a16:creationId xmlns:a16="http://schemas.microsoft.com/office/drawing/2014/main" id="{9CE5556F-71B1-9297-7BB7-5F9D00DCCEA9}"/>
                </a:ext>
              </a:extLst>
            </p:cNvPr>
            <p:cNvSpPr/>
            <p:nvPr/>
          </p:nvSpPr>
          <p:spPr>
            <a:xfrm>
              <a:off x="6400800" y="1746504"/>
              <a:ext cx="64008" cy="1285627"/>
            </a:xfrm>
            <a:prstGeom prst="roundRect">
              <a:avLst>
                <a:gd name="adj" fmla="val 50000"/>
              </a:avLst>
            </a:prstGeom>
            <a:solidFill>
              <a:srgbClr val="1560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38" name="Imagem 37">
            <a:extLst>
              <a:ext uri="{FF2B5EF4-FFF2-40B4-BE49-F238E27FC236}">
                <a16:creationId xmlns:a16="http://schemas.microsoft.com/office/drawing/2014/main" id="{946B12A5-031F-A953-82D7-408707DA63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76" b="3377"/>
          <a:stretch>
            <a:fillRect/>
          </a:stretch>
        </p:blipFill>
        <p:spPr>
          <a:xfrm>
            <a:off x="673788" y="3362229"/>
            <a:ext cx="4868369" cy="272997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795DDA4E-E0C9-6694-FD65-B7D79D0D6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005" y="3291108"/>
            <a:ext cx="4823798" cy="2713386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66928" y="1325880"/>
            <a:ext cx="2615184" cy="256032"/>
          </a:xfrm>
          <a:prstGeom prst="roundRect">
            <a:avLst/>
          </a:prstGeom>
          <a:solidFill>
            <a:srgbClr val="3C6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(A)  Base bibliométrica  ·  n=3.696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10128" y="1645920"/>
            <a:ext cx="2615184" cy="1289304"/>
          </a:xfrm>
          <a:prstGeom prst="roundRect">
            <a:avLst/>
          </a:prstGeom>
          <a:solidFill>
            <a:srgbClr val="F5F6F9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10128" y="1645920"/>
            <a:ext cx="64008" cy="1289304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1792224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0E2841"/>
                </a:solidFill>
              </a:rPr>
              <a:t>53,5%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2221992"/>
            <a:ext cx="23408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E2841"/>
                </a:solidFill>
              </a:rPr>
              <a:t>Dos 129 trabalhos catalogados em Phillipson (2025) usam QA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10128" y="1325880"/>
            <a:ext cx="2615184" cy="256032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(B)  Amostra Phillipson 2025  ·  n=129</a:t>
            </a:r>
          </a:p>
        </p:txBody>
      </p:sp>
    </p:spTree>
    <p:extLst>
      <p:ext uri="{BB962C8B-B14F-4D97-AF65-F5344CB8AC3E}">
        <p14:creationId xmlns:p14="http://schemas.microsoft.com/office/powerpoint/2010/main" val="372945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36569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RESULTADOS </a:t>
            </a:r>
            <a:r>
              <a:rPr lang="pt-BR" sz="1100" b="1" i="0" dirty="0">
                <a:solidFill>
                  <a:srgbClr val="156082"/>
                </a:solidFill>
                <a:latin typeface="Arial"/>
                <a:cs typeface="Arial"/>
              </a:rPr>
              <a:t>-</a:t>
            </a:r>
            <a:r>
              <a:rPr sz="1100" b="1" i="0" dirty="0">
                <a:solidFill>
                  <a:srgbClr val="156082"/>
                </a:solidFill>
                <a:latin typeface="Arial"/>
                <a:cs typeface="Arial"/>
              </a:rPr>
              <a:t> </a:t>
            </a:r>
            <a:r>
              <a:rPr lang="pt-BR" sz="1100" b="1" dirty="0">
                <a:solidFill>
                  <a:srgbClr val="156082"/>
                </a:solidFill>
              </a:rPr>
              <a:t>4</a:t>
            </a:r>
            <a:endParaRPr sz="11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89531"/>
            <a:ext cx="8461984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Taxonomia de algoritmos e abordagens híbridas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43250"/>
            <a:ext cx="604664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40+ algoritmos identificados na amostra Phillipson (2025, n=129) → 6 categorias principais:</a:t>
            </a:r>
            <a:endParaRPr sz="1600" b="1" i="0" dirty="0">
              <a:solidFill>
                <a:srgbClr val="2E5C8A"/>
              </a:solidFill>
              <a:latin typeface="Arial"/>
              <a:cs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504" y="2401024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2401024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483320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 Annealing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723378"/>
            <a:ext cx="24688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D-Wave QA, Hybrid Solver, Reverse Annealing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2401024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93008" y="2401024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75888" y="2483320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Variacionais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75888" y="2775928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QAOA, VQE, F-VQE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297136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" y="3297136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36892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Exatos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" y="3672040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Grover, QPE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3297136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93008" y="3297136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5888" y="336892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 err="1">
                <a:solidFill>
                  <a:srgbClr val="0E2841"/>
                </a:solidFill>
                <a:latin typeface="Arial"/>
                <a:cs typeface="Arial"/>
              </a:rPr>
              <a:t>Híbridos</a:t>
            </a:r>
            <a:endParaRPr b="1" i="0" dirty="0">
              <a:solidFill>
                <a:srgbClr val="0E2841"/>
              </a:solidFill>
              <a:latin typeface="Arial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75888" y="3608980"/>
            <a:ext cx="2468880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Decomposição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+ QA, </a:t>
            </a:r>
            <a:endParaRPr lang="pt-BR" b="0" i="0" dirty="0">
              <a:solidFill>
                <a:srgbClr val="6B727B"/>
              </a:solidFill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path-slicing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4193248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4" y="4193248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4275544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568152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Quantum RL, QACO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93008" y="4193248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93008" y="4193248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75888" y="4275544"/>
            <a:ext cx="24688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0E2841"/>
                </a:solidFill>
                <a:latin typeface="Arial"/>
                <a:cs typeface="Arial"/>
              </a:rPr>
              <a:t>Quantum-inspired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6398" y="4526112"/>
            <a:ext cx="24688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Heurísticas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inspiradas</a:t>
            </a:r>
            <a:r>
              <a:rPr b="0" i="0" dirty="0">
                <a:solidFill>
                  <a:srgbClr val="6B727B"/>
                </a:solidFill>
                <a:latin typeface="Arial"/>
                <a:cs typeface="Arial"/>
              </a:rPr>
              <a:t> no </a:t>
            </a:r>
            <a:r>
              <a:rPr b="0" i="0" dirty="0" err="1">
                <a:solidFill>
                  <a:srgbClr val="6B727B"/>
                </a:solidFill>
                <a:latin typeface="Arial"/>
                <a:cs typeface="Arial"/>
              </a:rPr>
              <a:t>quântico</a:t>
            </a:r>
            <a:endParaRPr b="0" i="0" dirty="0">
              <a:solidFill>
                <a:srgbClr val="6B727B"/>
              </a:solidFill>
              <a:latin typeface="Arial"/>
              <a:cs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03504" y="5246478"/>
            <a:ext cx="5632704" cy="841248"/>
          </a:xfrm>
          <a:prstGeom prst="roundRect">
            <a:avLst>
              <a:gd name="adj" fmla="val 1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5435917"/>
            <a:ext cx="5212080" cy="4623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maioria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das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implementações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adota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abordagens</a:t>
            </a:r>
            <a:r>
              <a:rPr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Arial"/>
                <a:cs typeface="Arial"/>
              </a:rPr>
              <a:t>híbridas</a:t>
            </a:r>
            <a:endParaRPr b="1" i="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processamento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quântico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combinado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 com solvers </a:t>
            </a:r>
            <a:r>
              <a:rPr i="0" dirty="0" err="1">
                <a:solidFill>
                  <a:schemeClr val="bg1"/>
                </a:solidFill>
                <a:latin typeface="Arial"/>
                <a:cs typeface="Arial"/>
              </a:rPr>
              <a:t>clássicos</a:t>
            </a:r>
            <a:r>
              <a:rPr i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2350204"/>
            <a:ext cx="5184648" cy="369324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8300" y="5794815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 dirty="0" err="1">
                <a:solidFill>
                  <a:srgbClr val="6B727B"/>
                </a:solidFill>
                <a:latin typeface="Arial"/>
                <a:cs typeface="Arial"/>
              </a:rPr>
              <a:t>Distribuição por abordagem na amostra Phillipson (n=129, 2025) — predomínio de soluções híbridas.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C56D7AE9-F43A-A6BD-B7FD-95278D695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12" y="2531424"/>
            <a:ext cx="4950900" cy="2895149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7589520" y="960120"/>
            <a:ext cx="3931920" cy="365760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(B)  Amostra Phillipson 2025  ·  n=129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Lacunas de pesquisa identificadas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69841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Quatro lacunas se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destacam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e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apontam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direções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para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trabalhos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2E5C8A"/>
                </a:solidFill>
                <a:latin typeface="Arial"/>
                <a:cs typeface="Arial"/>
              </a:rPr>
              <a:t>futuros</a:t>
            </a:r>
            <a:r>
              <a:rPr sz="1600" b="1" i="0" dirty="0">
                <a:solidFill>
                  <a:srgbClr val="2E5C8A"/>
                </a:solidFill>
                <a:latin typeface="Arial"/>
                <a:cs typeface="Arial"/>
              </a:rPr>
              <a:t>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3504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Gate-based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Escassas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87705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Faltam soluções QAOA/VQE com escalabilidade demonstrada para o TSP.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6996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96996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96996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96996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  <a:cs typeface="Arial"/>
              </a:rPr>
              <a:t>QRL para </a:t>
            </a:r>
            <a:r>
              <a:rPr sz="1400" b="1" i="0" dirty="0" err="1">
                <a:solidFill>
                  <a:srgbClr val="FFFFFF"/>
                </a:solidFill>
                <a:latin typeface="Arial"/>
                <a:cs typeface="Arial"/>
              </a:rPr>
              <a:t>roteamento</a:t>
            </a:r>
            <a:endParaRPr sz="1400" b="1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1588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21 artigos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4740" y="3877056"/>
            <a:ext cx="2194560" cy="994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Quantum Reinforcement Learning para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roteamento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—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área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emergente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e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pouco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FF0000"/>
                </a:solidFill>
                <a:latin typeface="Arial"/>
                <a:cs typeface="Arial"/>
              </a:rPr>
              <a:t>explorada</a:t>
            </a:r>
            <a:r>
              <a:rPr sz="1400" b="0" i="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90488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0488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CVRP com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18 artigos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87705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Aplicação logística direta do Quantum Annealing ao CVRP ainda pouco investigada.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3980" y="2249424"/>
            <a:ext cx="2670048" cy="312724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983980" y="2249424"/>
            <a:ext cx="2670048" cy="841248"/>
          </a:xfrm>
          <a:prstGeom prst="roundRect">
            <a:avLst>
              <a:gd name="adj" fmla="val 2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83980" y="2706624"/>
            <a:ext cx="2670048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83980" y="2249424"/>
            <a:ext cx="26700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Dados reais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8572" y="3218688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56082"/>
                </a:solidFill>
                <a:latin typeface="Arial"/>
                <a:cs typeface="Arial"/>
              </a:rPr>
              <a:t>Limitada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1724" y="387705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Validação com dados logísticos reais — predominam benchmarks acadêmicos.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541264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E6670"/>
                </a:solidFill>
                <a:latin typeface="Arial"/>
                <a:cs typeface="Arial"/>
              </a:rPr>
              <a:t>Persiste o desafio de demonstrar escalabilidade frente às limitações do hardware NISQ.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2D21202-1A48-386D-FF4F-5AA244E6631E}"/>
              </a:ext>
            </a:extLst>
          </p:cNvPr>
          <p:cNvSpPr txBox="1"/>
          <p:nvPr/>
        </p:nvSpPr>
        <p:spPr>
          <a:xfrm>
            <a:off x="4402989" y="505373"/>
            <a:ext cx="4251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Verificar </a:t>
            </a:r>
            <a:r>
              <a:rPr lang="pt-BR" dirty="0" err="1">
                <a:highlight>
                  <a:srgbClr val="FFFF00"/>
                </a:highlight>
              </a:rPr>
              <a:t>pq</a:t>
            </a:r>
            <a:r>
              <a:rPr lang="pt-BR" dirty="0">
                <a:highlight>
                  <a:srgbClr val="FFFF00"/>
                </a:highlight>
              </a:rPr>
              <a:t> QML não apareceu como oportunidade</a:t>
            </a:r>
          </a:p>
          <a:p>
            <a:r>
              <a:rPr lang="pt-BR" dirty="0">
                <a:highlight>
                  <a:srgbClr val="FFFF00"/>
                </a:highlight>
              </a:rPr>
              <a:t>Incluir insights dos resumos</a:t>
            </a:r>
          </a:p>
        </p:txBody>
      </p:sp>
      <p:sp>
        <p:nvSpPr>
          <p:cNvPr id="38" name="TextBox 2">
            <a:extLst>
              <a:ext uri="{FF2B5EF4-FFF2-40B4-BE49-F238E27FC236}">
                <a16:creationId xmlns:a16="http://schemas.microsoft.com/office/drawing/2014/main" id="{0AF26B05-2D14-DC32-E4AB-B36D36A27585}"/>
              </a:ext>
            </a:extLst>
          </p:cNvPr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960120"/>
            <a:ext cx="3931920" cy="365760"/>
          </a:xfrm>
          <a:prstGeom prst="roundRect">
            <a:avLst/>
          </a:prstGeom>
          <a:solidFill>
            <a:srgbClr val="3C6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(A)  Contagens das strings de busca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CONSIDERAÇÕES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Conclusões e próximas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92224"/>
            <a:ext cx="5458968" cy="446024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792224"/>
            <a:ext cx="5458968" cy="731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197510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841"/>
                </a:solidFill>
                <a:latin typeface="Arial"/>
                <a:cs typeface="Arial"/>
              </a:rPr>
              <a:t>O que a revisão mostrou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432304"/>
            <a:ext cx="4956048" cy="3651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lang="pt-BR" sz="1400" b="1" i="0" dirty="0">
                <a:solidFill>
                  <a:srgbClr val="2B2B2B"/>
                </a:solidFill>
                <a:latin typeface="Arial"/>
                <a:cs typeface="Arial"/>
              </a:rPr>
              <a:t>Híbrido é o padrão: </a:t>
            </a:r>
            <a:r>
              <a:rPr lang="pt-BR" sz="1400" b="0" i="0" dirty="0">
                <a:solidFill>
                  <a:srgbClr val="2B2B2B"/>
                </a:solidFill>
                <a:latin typeface="Arial"/>
                <a:cs typeface="Arial"/>
              </a:rPr>
              <a:t>a grande maioria das soluções publicadas combina QC + clássico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O Quantum Annealing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consolidou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-se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como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o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paradigma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mais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maduro e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acessível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para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otimização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combinatória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endParaRPr lang="pt-BR" sz="1400" b="0" i="0" dirty="0">
              <a:solidFill>
                <a:srgbClr val="2B2B2B"/>
              </a:solidFill>
              <a:latin typeface="Arial"/>
              <a:cs typeface="Arial"/>
            </a:endParaRP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>
                <a:solidFill>
                  <a:srgbClr val="2B2B2B"/>
                </a:solidFill>
              </a:rPr>
              <a:t>D-</a:t>
            </a:r>
            <a:r>
              <a:rPr lang="pt-BR" dirty="0" err="1">
                <a:solidFill>
                  <a:srgbClr val="2B2B2B"/>
                </a:solidFill>
              </a:rPr>
              <a:t>Wave</a:t>
            </a:r>
            <a:r>
              <a:rPr lang="pt-BR" dirty="0">
                <a:solidFill>
                  <a:srgbClr val="2B2B2B"/>
                </a:solidFill>
              </a:rPr>
              <a:t> lidera por oferecer mais </a:t>
            </a:r>
            <a:r>
              <a:rPr lang="pt-BR" dirty="0" err="1">
                <a:solidFill>
                  <a:srgbClr val="2B2B2B"/>
                </a:solidFill>
              </a:rPr>
              <a:t>qubits</a:t>
            </a:r>
            <a:r>
              <a:rPr lang="pt-BR" dirty="0">
                <a:solidFill>
                  <a:srgbClr val="2B2B2B"/>
                </a:solidFill>
              </a:rPr>
              <a:t> e </a:t>
            </a:r>
            <a:r>
              <a:rPr lang="pt-BR" dirty="0" err="1">
                <a:solidFill>
                  <a:srgbClr val="2B2B2B"/>
                </a:solidFill>
              </a:rPr>
              <a:t>stack</a:t>
            </a:r>
            <a:r>
              <a:rPr lang="pt-BR" dirty="0">
                <a:solidFill>
                  <a:srgbClr val="2B2B2B"/>
                </a:solidFill>
              </a:rPr>
              <a:t> completo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>
                <a:solidFill>
                  <a:srgbClr val="2B2B2B"/>
                </a:solidFill>
              </a:rPr>
              <a:t>QAOA/VQE limitados: segundo paradigma mais usado, mas ainda com performance inferior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>
                <a:solidFill>
                  <a:srgbClr val="2B2B2B"/>
                </a:solidFill>
              </a:rPr>
              <a:t>Hardware é o gargalo: ruído, decoerência e número de </a:t>
            </a:r>
            <a:r>
              <a:rPr lang="pt-BR" dirty="0" err="1">
                <a:solidFill>
                  <a:srgbClr val="2B2B2B"/>
                </a:solidFill>
              </a:rPr>
              <a:t>qubits</a:t>
            </a:r>
            <a:r>
              <a:rPr lang="pt-BR" dirty="0">
                <a:solidFill>
                  <a:srgbClr val="2B2B2B"/>
                </a:solidFill>
              </a:rPr>
              <a:t> limitam aplicações reais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 err="1"/>
              <a:t>Routing</a:t>
            </a:r>
            <a:r>
              <a:rPr lang="pt-BR" dirty="0"/>
              <a:t> e </a:t>
            </a:r>
            <a:r>
              <a:rPr lang="pt-BR" dirty="0" err="1"/>
              <a:t>Scheduling</a:t>
            </a:r>
            <a:r>
              <a:rPr lang="pt-BR" dirty="0"/>
              <a:t> são os tópicos mais pesquisados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pt-BR" b="1" dirty="0">
                <a:solidFill>
                  <a:srgbClr val="156082"/>
                </a:solidFill>
              </a:rPr>
              <a:t>▪ </a:t>
            </a:r>
            <a:r>
              <a:rPr lang="pt-BR" dirty="0" err="1"/>
              <a:t>Prediction</a:t>
            </a:r>
            <a:r>
              <a:rPr lang="pt-BR" dirty="0"/>
              <a:t>/QML é a maior lacuna de pesquisa identificada</a:t>
            </a:r>
            <a:endParaRPr lang="en-US" dirty="0">
              <a:solidFill>
                <a:srgbClr val="2B2B2B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44768" y="1792224"/>
            <a:ext cx="5440680" cy="4446016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792224"/>
            <a:ext cx="5440680" cy="731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975104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 dirty="0" err="1">
                <a:solidFill>
                  <a:srgbClr val="FFFFFF"/>
                </a:solidFill>
                <a:latin typeface="Arial"/>
                <a:cs typeface="Arial"/>
              </a:rPr>
              <a:t>Próximas</a:t>
            </a:r>
            <a:r>
              <a:rPr sz="1800" b="1" i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Arial"/>
                <a:cs typeface="Arial"/>
              </a:rPr>
              <a:t>etapas</a:t>
            </a:r>
            <a:r>
              <a:rPr sz="1800" b="1" i="0" dirty="0">
                <a:solidFill>
                  <a:srgbClr val="FFFFFF"/>
                </a:solidFill>
                <a:latin typeface="Arial"/>
                <a:cs typeface="Arial"/>
              </a:rPr>
              <a:t> da </a:t>
            </a:r>
            <a:r>
              <a:rPr sz="1800" b="1" i="0" dirty="0" err="1">
                <a:solidFill>
                  <a:srgbClr val="FFFFFF"/>
                </a:solidFill>
                <a:latin typeface="Arial"/>
                <a:cs typeface="Arial"/>
              </a:rPr>
              <a:t>pesquisa</a:t>
            </a:r>
            <a:r>
              <a:rPr lang="pt-BR" sz="1800" b="1" i="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800" b="1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19088" y="2560320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5603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464639"/>
            <a:ext cx="4261104" cy="740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Fundamentação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teórica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aprofundada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do </a:t>
            </a:r>
            <a:r>
              <a:rPr lang="pt-BR" dirty="0">
                <a:solidFill>
                  <a:srgbClr val="DDE6EF"/>
                </a:solidFill>
              </a:rPr>
              <a:t>lacuna identificada com o tema de Quantum Machine Learning (QML) no contexto de </a:t>
            </a:r>
            <a:r>
              <a:rPr lang="pt-BR" dirty="0" err="1">
                <a:solidFill>
                  <a:srgbClr val="DDE6EF"/>
                </a:solidFill>
              </a:rPr>
              <a:t>Supply</a:t>
            </a:r>
            <a:r>
              <a:rPr lang="pt-BR" dirty="0">
                <a:solidFill>
                  <a:srgbClr val="DDE6EF"/>
                </a:solidFill>
              </a:rPr>
              <a:t> Chain</a:t>
            </a:r>
            <a:endParaRPr sz="1400" b="0" i="0" dirty="0">
              <a:solidFill>
                <a:srgbClr val="DDE6EF"/>
              </a:solidFill>
              <a:latin typeface="Arial"/>
              <a:cs typeface="Arial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419088" y="3639312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63931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638170"/>
            <a:ext cx="3750932" cy="485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Seleção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reprodução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de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algoritmos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em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simuladores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quânticos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718304"/>
            <a:ext cx="512064" cy="51206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471830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4627190"/>
            <a:ext cx="3750932" cy="740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Comparação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experimental entre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abordagens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clássicas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e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quânticas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para </a:t>
            </a:r>
            <a:r>
              <a:rPr sz="1400" b="0" i="0" dirty="0" err="1">
                <a:solidFill>
                  <a:srgbClr val="DDE6EF"/>
                </a:solidFill>
                <a:latin typeface="Arial"/>
                <a:cs typeface="Arial"/>
              </a:rPr>
              <a:t>instâncias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lang="pt-BR" sz="1400" b="0" i="0" dirty="0">
                <a:solidFill>
                  <a:srgbClr val="DDE6EF"/>
                </a:solidFill>
                <a:latin typeface="Arial"/>
                <a:cs typeface="Arial"/>
              </a:rPr>
              <a:t>QML</a:t>
            </a:r>
            <a:r>
              <a:rPr sz="1400" b="0" i="0" dirty="0">
                <a:solidFill>
                  <a:srgbClr val="DDE6EF"/>
                </a:solidFill>
                <a:latin typeface="Arial"/>
                <a:cs typeface="Arial"/>
              </a:rPr>
              <a:t> </a:t>
            </a:r>
            <a:r>
              <a:rPr lang="pt-BR" sz="1400" b="0" i="0" dirty="0">
                <a:solidFill>
                  <a:srgbClr val="DDE6EF"/>
                </a:solidFill>
                <a:latin typeface="Arial"/>
                <a:cs typeface="Arial"/>
              </a:rPr>
              <a:t>aplicado no contexto de logística</a:t>
            </a:r>
            <a:endParaRPr sz="1400" b="0" i="0" dirty="0">
              <a:solidFill>
                <a:srgbClr val="DDE6EF"/>
              </a:solidFill>
              <a:latin typeface="Arial"/>
              <a:cs typeface="Arial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476DEBA-FA0A-3C6C-E12F-937EADB9C2EF}"/>
              </a:ext>
            </a:extLst>
          </p:cNvPr>
          <p:cNvSpPr txBox="1"/>
          <p:nvPr/>
        </p:nvSpPr>
        <p:spPr>
          <a:xfrm>
            <a:off x="3432323" y="1468245"/>
            <a:ext cx="2105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Revisar o texto </a:t>
            </a:r>
            <a:r>
              <a:rPr lang="pt-BR" dirty="0" err="1">
                <a:highlight>
                  <a:srgbClr val="FFFF00"/>
                </a:highlight>
              </a:rPr>
              <a:t>vs</a:t>
            </a:r>
            <a:r>
              <a:rPr lang="pt-BR" dirty="0">
                <a:highlight>
                  <a:srgbClr val="FFFF00"/>
                </a:highlight>
              </a:rPr>
              <a:t> artigo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AGRADECIMENTOS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87635"/>
            <a:ext cx="468993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Agradecimentos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920240"/>
            <a:ext cx="10981944" cy="2011680"/>
          </a:xfrm>
          <a:prstGeom prst="roundRect">
            <a:avLst>
              <a:gd name="adj" fmla="val 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920240"/>
            <a:ext cx="91440" cy="2011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212848"/>
            <a:ext cx="10241280" cy="1075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Este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trabalho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foi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parcialmente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financiado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pelo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projeto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QuIIN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FCRH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Mestrado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TQ,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suportado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pelo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QuIIN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— Quantum Industrial Innovation, Centro de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Competência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EMBRAPII CIMATEC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em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Tecnologias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Quânticas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, com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recursos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do PPI IoT/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Manufatura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4.0 do MCTI,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por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meio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do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Termo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de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Cooperação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053/2023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firmado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com a EMBRAPII.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Apoio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adicional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do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CNPq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—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Conselho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Nacional de Desenvolvimento </a:t>
            </a:r>
            <a:r>
              <a:rPr sz="1400" b="0" i="1" dirty="0" err="1">
                <a:solidFill>
                  <a:srgbClr val="2B2B2B"/>
                </a:solidFill>
                <a:latin typeface="Arial"/>
                <a:cs typeface="Arial"/>
              </a:rPr>
              <a:t>Científico</a:t>
            </a:r>
            <a:r>
              <a:rPr sz="1400" b="0" i="1" dirty="0">
                <a:solidFill>
                  <a:srgbClr val="2B2B2B"/>
                </a:solidFill>
                <a:latin typeface="Arial"/>
                <a:cs typeface="Arial"/>
              </a:rPr>
              <a:t> e Tecnológico.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616705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solidFill>
                  <a:srgbClr val="156082"/>
                </a:solidFill>
                <a:latin typeface="Arial"/>
                <a:cs typeface="Arial"/>
              </a:rPr>
              <a:t>Apoio</a:t>
            </a: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 </a:t>
            </a:r>
            <a:r>
              <a:rPr sz="1400" b="1" i="0" dirty="0" err="1">
                <a:solidFill>
                  <a:srgbClr val="156082"/>
                </a:solidFill>
                <a:latin typeface="Arial"/>
                <a:cs typeface="Arial"/>
              </a:rPr>
              <a:t>institucional</a:t>
            </a: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 e </a:t>
            </a:r>
            <a:r>
              <a:rPr sz="1400" b="1" i="0" dirty="0" err="1">
                <a:solidFill>
                  <a:srgbClr val="156082"/>
                </a:solidFill>
                <a:latin typeface="Arial"/>
                <a:cs typeface="Arial"/>
              </a:rPr>
              <a:t>fomento</a:t>
            </a:r>
            <a:r>
              <a:rPr lang="pt-BR" sz="1400" b="1" i="0" dirty="0">
                <a:solidFill>
                  <a:srgbClr val="156082"/>
                </a:solidFill>
                <a:latin typeface="Arial"/>
                <a:cs typeface="Arial"/>
              </a:rPr>
              <a:t>:</a:t>
            </a:r>
            <a:endParaRPr sz="1400" b="1" i="0" dirty="0">
              <a:solidFill>
                <a:srgbClr val="156082"/>
              </a:solidFill>
              <a:latin typeface="Arial"/>
              <a:cs typeface="Arial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5EE387D1-DDE7-CD43-B262-14C7AEC38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457" y="4961582"/>
            <a:ext cx="2590199" cy="1031356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8C18DC0B-26D0-71D3-544E-F17C456394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315" y="5101946"/>
            <a:ext cx="1945255" cy="82997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6B6B9FCF-2E85-22F8-4744-FB0C90648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005821"/>
            <a:ext cx="3048404" cy="1129732"/>
          </a:xfrm>
          <a:prstGeom prst="rect">
            <a:avLst/>
          </a:prstGeom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93442983-BAC2-01F4-8B64-D896EA587201}"/>
              </a:ext>
            </a:extLst>
          </p:cNvPr>
          <p:cNvGrpSpPr/>
          <p:nvPr/>
        </p:nvGrpSpPr>
        <p:grpSpPr>
          <a:xfrm>
            <a:off x="9548753" y="4984162"/>
            <a:ext cx="2354318" cy="1065542"/>
            <a:chOff x="3389463" y="436421"/>
            <a:chExt cx="2354318" cy="1065542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7ABAE982-C7CC-B748-1416-E2FCC9602B85}"/>
                </a:ext>
              </a:extLst>
            </p:cNvPr>
            <p:cNvSpPr/>
            <p:nvPr/>
          </p:nvSpPr>
          <p:spPr>
            <a:xfrm>
              <a:off x="3389463" y="436421"/>
              <a:ext cx="2354318" cy="106554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C3000D23-D6C3-3C56-3798-A900E4816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88083" y="554438"/>
              <a:ext cx="1943100" cy="762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365760"/>
            <a:ext cx="201168" cy="2926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" y="419731"/>
            <a:ext cx="7680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56082"/>
                </a:solidFill>
                <a:latin typeface="Arial"/>
                <a:cs typeface="Arial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E2841"/>
                </a:solidFill>
                <a:latin typeface="Arial"/>
                <a:cs typeface="Arial"/>
              </a:rPr>
              <a:t>Referências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17904"/>
            <a:ext cx="914400" cy="4572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302595"/>
            <a:ext cx="1645920" cy="931001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19088"/>
            <a:ext cx="713232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670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0080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5C8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10512"/>
            <a:ext cx="10981944" cy="404164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" y="1810512"/>
            <a:ext cx="10981944" cy="731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139696"/>
            <a:ext cx="10320318" cy="3279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1.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APPLEGATE, D. L. et al. The Traveling Salesman Problem: a computational study. Princeton: Princeton University Press, 2006.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2.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KADOWAKI, T.; NISHIMORI, H. Quantum annealing in the Transverse Ising model. Physical Review E, v. 58, n. 5, p. 5355-5363, 1998.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3.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SALEHI, Ö.; GLOS, A.; MISZCZAK, J. A. Unconstrained binary models of the travelling salesman problem variants for quantum optimization. Quantum Information Processing, v. 21, n. 67, 2022.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4.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PHILLIPSON, F. Quantum Computing in Logistics and Supply Chain Management: an overview. Maastricht University / TNO, 2025.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400" b="1" i="0" dirty="0">
                <a:solidFill>
                  <a:srgbClr val="156082"/>
                </a:solidFill>
                <a:latin typeface="Arial"/>
                <a:cs typeface="Arial"/>
              </a:rPr>
              <a:t>5.   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FARHI, E.; GOLDSTONE, J.; GUTMANN, S. A quantum approximate optimization algorithm. </a:t>
            </a:r>
            <a:r>
              <a:rPr sz="1400" b="0" i="0" dirty="0" err="1">
                <a:solidFill>
                  <a:srgbClr val="2B2B2B"/>
                </a:solidFill>
                <a:latin typeface="Arial"/>
                <a:cs typeface="Arial"/>
              </a:rPr>
              <a:t>arXiv</a:t>
            </a:r>
            <a:r>
              <a:rPr sz="1400" b="0" i="0" dirty="0">
                <a:solidFill>
                  <a:srgbClr val="2B2B2B"/>
                </a:solidFill>
                <a:latin typeface="Arial"/>
                <a:cs typeface="Arial"/>
              </a:rPr>
              <a:t> preprint arXiv:1411.4028, 2014.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13232"/>
            <a:ext cx="2344027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432304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Arial"/>
                <a:cs typeface="Arial"/>
              </a:rPr>
              <a:t>Obrigado!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529584"/>
            <a:ext cx="105156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712463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5B7FB5"/>
                </a:solidFill>
                <a:latin typeface="Arial"/>
                <a:cs typeface="Arial"/>
              </a:rPr>
              <a:t>Aplicação de Quantum Annealing ao Problema do Caixeiro Viajante: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1">
                <a:solidFill>
                  <a:srgbClr val="B9C6D6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77316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Renan Cardoso dos Santos</a:t>
            </a:r>
            <a:r>
              <a:rPr sz="1300" b="0" i="0">
                <a:solidFill>
                  <a:srgbClr val="B9C6D6"/>
                </a:solidFill>
                <a:latin typeface="Arial"/>
                <a:cs typeface="Arial"/>
              </a:rPr>
              <a:t>   ·   Valéria Loureiro da Silva   ·   Anderson Rafael Correia B. da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23036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56082"/>
                </a:solidFill>
                <a:latin typeface="Arial"/>
                <a:cs typeface="Arial"/>
              </a:rPr>
              <a:t>✉  </a:t>
            </a:r>
            <a:r>
              <a:rPr sz="1400" b="0" i="0">
                <a:solidFill>
                  <a:srgbClr val="5B7FB5"/>
                </a:solidFill>
                <a:latin typeface="Arial"/>
                <a:cs typeface="Arial"/>
              </a:rPr>
              <a:t>renan.santos@fbter.org.br</a:t>
            </a:r>
            <a:r>
              <a:rPr sz="1300" b="0" i="0">
                <a:solidFill>
                  <a:srgbClr val="8F9FB3"/>
                </a:solidFill>
                <a:latin typeface="Arial"/>
                <a:cs typeface="Arial"/>
              </a:rPr>
              <a:t>        Universidade SENAI CIMATEC · Salvador-BA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37336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cs typeface="Arial"/>
              </a:rPr>
              <a:t>XI SAPCT — SENAI CIMATEC · 28 e 29 de Maio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0928" y="632764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0104" y="6364224"/>
            <a:ext cx="88188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m xmlns="f669e5db-8216-4767-8765-5c106c935a63" xsi:nil="true"/>
    <lcf76f155ced4ddcb4097134ff3c332f xmlns="f669e5db-8216-4767-8765-5c106c935a63">
      <Terms xmlns="http://schemas.microsoft.com/office/infopath/2007/PartnerControls"/>
    </lcf76f155ced4ddcb4097134ff3c332f>
    <TaxCatchAll xmlns="61ed00d3-b95b-49cb-aaac-c4e788828f5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E3559D24A189843A705DCAFAEC0B137" ma:contentTypeVersion="20" ma:contentTypeDescription="Crie um novo documento." ma:contentTypeScope="" ma:versionID="289f59ee561973bc3c454ec41fafdc64">
  <xsd:schema xmlns:xsd="http://www.w3.org/2001/XMLSchema" xmlns:xs="http://www.w3.org/2001/XMLSchema" xmlns:p="http://schemas.microsoft.com/office/2006/metadata/properties" xmlns:ns2="f669e5db-8216-4767-8765-5c106c935a63" xmlns:ns3="61ed00d3-b95b-49cb-aaac-c4e788828f5e" targetNamespace="http://schemas.microsoft.com/office/2006/metadata/properties" ma:root="true" ma:fieldsID="79f8c8b4fa28edb900d0ffcf62de8357" ns2:_="" ns3:_="">
    <xsd:import namespace="f669e5db-8216-4767-8765-5c106c935a63"/>
    <xsd:import namespace="61ed00d3-b95b-49cb-aaac-c4e788828f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Imagem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9e5db-8216-4767-8765-5c106c935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Imagem" ma:index="25" nillable="true" ma:displayName="Imagem" ma:format="Thumbnail" ma:internalName="Imagem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d00d3-b95b-49cb-aaac-c4e788828f5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d45363e-5cca-49ed-baa5-6f84b8176714}" ma:internalName="TaxCatchAll" ma:showField="CatchAllData" ma:web="61ed00d3-b95b-49cb-aaac-c4e788828f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5CF3D6-8C26-47CB-8222-E12500FF1D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002501-C2A4-428D-9DC2-3E13F3023614}">
  <ds:schemaRefs>
    <ds:schemaRef ds:uri="http://schemas.microsoft.com/office/2006/metadata/properties"/>
    <ds:schemaRef ds:uri="http://schemas.microsoft.com/office/infopath/2007/PartnerControls"/>
    <ds:schemaRef ds:uri="f669e5db-8216-4767-8765-5c106c935a63"/>
    <ds:schemaRef ds:uri="61ed00d3-b95b-49cb-aaac-c4e788828f5e"/>
  </ds:schemaRefs>
</ds:datastoreItem>
</file>

<file path=customXml/itemProps3.xml><?xml version="1.0" encoding="utf-8"?>
<ds:datastoreItem xmlns:ds="http://schemas.openxmlformats.org/officeDocument/2006/customXml" ds:itemID="{3606E40D-7C12-4F7C-AB5A-F4C231350D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69e5db-8216-4767-8765-5c106c935a63"/>
    <ds:schemaRef ds:uri="61ed00d3-b95b-49cb-aaac-c4e788828f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2339</Words>
  <Application>Microsoft Office PowerPoint</Application>
  <PresentationFormat>Widescreen</PresentationFormat>
  <Paragraphs>238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 Lauria da Cruz</dc:creator>
  <cp:lastModifiedBy>Renan cardoso</cp:lastModifiedBy>
  <cp:revision>5</cp:revision>
  <dcterms:modified xsi:type="dcterms:W3CDTF">2026-05-26T17:36:27Z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0x0101006E3559D24A189843A705DCAFAEC0B137</vt:lpwstr>
  </property>
  <property fmtid="{D5CDD505-2E9C-101B-9397-08002B2CF9AE}" pid="3" name="MediaServiceImageTags">
    <vt:lpwstr/>
  </property>
</Properties>
</file>