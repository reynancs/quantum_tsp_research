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8"/>
  </p:notesMasterIdLst>
  <p:sldIdLst>
    <p:sldId id="256" r:id="rId5"/>
    <p:sldId id="257" r:id="rId7"/>
    <p:sldId id="258" r:id="rId6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2192000" cy="6858000"/>
  <p:notesSz cx="6858000" cy="9144000"/>
  <p:embeddedFontLst>
    <p:embeddedFont>
      <p:font typeface="Play" panose="020B060402020202020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Lauria da Cruz" userId="e5c136e4-ecda-4537-a4b7-e07e6dac5500" providerId="ADAL" clId="{599CCA62-F4B3-4706-9835-C2C41B290946}"/>
    <pc:docChg chg="custSel modSld">
      <pc:chgData name="Gabriel Lauria da Cruz" userId="e5c136e4-ecda-4537-a4b7-e07e6dac5500" providerId="ADAL" clId="{599CCA62-F4B3-4706-9835-C2C41B290946}" dt="2026-02-11T13:06:22.146" v="7" actId="34135"/>
      <pc:docMkLst>
        <pc:docMk/>
      </pc:docMkLst>
      <pc:sldChg chg="addSp delSp modSp mod">
        <pc:chgData name="Gabriel Lauria da Cruz" userId="e5c136e4-ecda-4537-a4b7-e07e6dac5500" providerId="ADAL" clId="{599CCA62-F4B3-4706-9835-C2C41B290946}" dt="2026-02-11T13:06:22.146" v="7" actId="34135"/>
        <pc:sldMkLst>
          <pc:docMk/>
          <pc:sldMk cId="0" sldId="256"/>
        </pc:sldMkLst>
        <pc:picChg chg="add mod">
          <ac:chgData name="Gabriel Lauria da Cruz" userId="e5c136e4-ecda-4537-a4b7-e07e6dac5500" providerId="ADAL" clId="{599CCA62-F4B3-4706-9835-C2C41B290946}" dt="2026-02-11T13:06:22.146" v="7" actId="34135"/>
          <ac:picMkLst>
            <pc:docMk/>
            <pc:sldMk cId="0" sldId="256"/>
            <ac:picMk id="3" creationId="{4CB6D6F4-75FC-907B-F8E0-E8681A058672}"/>
          </ac:picMkLst>
        </pc:picChg>
        <pc:picChg chg="del">
          <ac:chgData name="Gabriel Lauria da Cruz" userId="e5c136e4-ecda-4537-a4b7-e07e6dac5500" providerId="ADAL" clId="{599CCA62-F4B3-4706-9835-C2C41B290946}" dt="2026-02-11T13:06:14.774" v="0" actId="478"/>
          <ac:picMkLst>
            <pc:docMk/>
            <pc:sldMk cId="0" sldId="256"/>
            <ac:picMk id="84" creationId="{00000000-0000-0000-0000-00000000000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Apresentar o trabalho: revisao exploratoria da literatura sobre o uso de Quantum Annealing no Problema do Caixeiro Viajante (TSP) aplicado a logistica. Mestrado Profissional em Gestao de Tecnologia e Inovacao - SENAI CIMATEC.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Roteiro em seis blocos: contextualizar o problema, apresentar a tecnologia, definir o objetivo, descrever a metodologia, discutir os resultados e fechar com lacunas e proximos passos.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TSP e um classico NP-Hard de otimizacao combinatoria. Na logistica, rotas eficientes reduzem custo e tempo. A variante TSPTW, com janelas de tempo, aproxima o problema de operacoes reais de distribuicao urbana e roteamento de veiculos.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computacao quantica busca explorar o espaco de solucoes de forma mais eficiente. O Quantum Annealing usa tunelamento quantico para encontrar o estado de menor energia; o problema e formulado como QUBO e resolvido em hardware D-Wave. Salehi et al. (2022) mostraram a viabilidade para o TSPTW.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realizar uma revisao exploratoria da literatura sobre a aplicacao de algoritmos quanticos, com enfase em Quantum Annealing, ao TSP e variantes em logistica - identificando volume de producao, algoritmos mais usados e lacunas de pesquisa.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metodologia cruza tres eixos - problema, tecnologia e aplicacao - em 26 strings de busca executadas no Lens.org. As strings foram priorizadas e aplicadas em duas fases. A deduplicacao por DOI e titulo garante a consistencia do corpus.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Dos 5.320 registros brutos, a deduplicacao resultou em 3.696 artigos unicos (30,5% de duplicatas). 61,7% foram publicados a partir de 2020, com pico em 2025: um campo em franca expansao.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producao e globalmente distribuida: 49 paises e 1.409 periodicos e conferencias distintos. 82,8% dos artigos estao em acesso aberto, o que favorece a reprodutibilidade e a replicabilidade da pesquisa.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Quantum Annealing confirma-se como paradigma dominante, com mais de 1.200 artigos. O hardware de referencia e o D-Wave Advantage (5.640 qubits, Pegasus). Algoritmos gate-based como QAOA e VQE somam apenas cerca de 150 artigos aplicados ao TSP - uma lacuna.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Foram catalogados mais de 40 algoritmos quanticos, agrupados em seis categorias: Quantum Annealing, variacionais, exatos, hibridos, QML e quantum-inspired. A maioria das implementacoes combina processamento quantico com solvers classicos - abordagens hibridas.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Quatro lacunas principais: ausencia de solucoes gate-based escalaveis para o TSP; apenas 21 artigos de Quantum Reinforcement Learning para roteamento; somente 18 artigos de CVRP com QA; e validacao limitada com dados logisticos reais. Sao oportunidades concretas de contribuicao cientifica.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revisao mostra um campo em rapida expansao. O QA e o paradigma mais maduro; variacionais e QML sao fronteiras abertas. As proximas etapas: fundamentacao teorica, reproducao de algoritmos em simuladores e comparacao experimental classico vs. quantico para o TSP logistico.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Referencias centrais do trabalho e agradecimentos as agencias e projetos de fomento: QuIIN, EMBRAPII CIMATEC, MCTI e CNPq.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Encerramento e abertura para perguntas. Contato do autor para interessados na continuidade da pesquisa.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9B0328F-7C3F-ED75-D32E-FCEA6CD96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0"/>
            <a:ext cx="54864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66928"/>
            <a:ext cx="2505684" cy="1417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112" y="2066543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6082"/>
                </a:solidFill>
                <a:latin typeface="Arial"/>
                <a:cs typeface="Arial"/>
              </a:rPr>
              <a:t>REVISÃO EXPLORATÓRIA DA LITERATURA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432304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0E2841"/>
                </a:solidFill>
                <a:latin typeface="Arial"/>
                <a:cs typeface="Arial"/>
              </a:rPr>
              <a:t>Aplicação de Quantum Annealing ao Problema do Caixeiro Viajante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1">
                <a:solidFill>
                  <a:srgbClr val="2E5C8A"/>
                </a:solidFill>
                <a:latin typeface="Arial"/>
                <a:cs typeface="Arial"/>
              </a:rPr>
              <a:t>Revisão exploratória da literatura em logística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31920"/>
            <a:ext cx="1005840" cy="431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133087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Arial"/>
                <a:cs typeface="Arial"/>
              </a:rPr>
              <a:t>Renan Cardoso dos Santos</a:t>
            </a: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¹    </a:t>
            </a:r>
            <a:r>
              <a:rPr sz="1500" b="1" i="0">
                <a:solidFill>
                  <a:srgbClr val="2B2B2B"/>
                </a:solidFill>
                <a:latin typeface="Arial"/>
                <a:cs typeface="Arial"/>
              </a:rPr>
              <a:t>Valéria Loureiro da Silva</a:t>
            </a: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²    </a:t>
            </a:r>
            <a:r>
              <a:rPr sz="1500" b="1" i="0">
                <a:solidFill>
                  <a:srgbClr val="2B2B2B"/>
                </a:solidFill>
                <a:latin typeface="Arial"/>
                <a:cs typeface="Arial"/>
              </a:rPr>
              <a:t>Anderson Rafael Correia B. da Silva</a:t>
            </a: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498848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B727B"/>
                </a:solidFill>
                <a:latin typeface="Arial"/>
                <a:cs typeface="Arial"/>
              </a:rPr>
              <a:t>¹ Mestrando em Gestão de Tecnologia e Inovação — Universidade SENAI CIMATEC, Salvador-BA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6B727B"/>
                </a:solidFill>
                <a:latin typeface="Arial"/>
                <a:cs typeface="Arial"/>
              </a:rPr>
              <a:t>² ³ Universidade SENAI CIMATEC, Salvador-BA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5358384"/>
            <a:ext cx="7955279" cy="603504"/>
          </a:xfrm>
          <a:prstGeom prst="roundRect">
            <a:avLst>
              <a:gd name="adj" fmla="val 16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358384"/>
            <a:ext cx="7589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56082"/>
                </a:solidFill>
                <a:latin typeface="Arial"/>
                <a:cs typeface="Arial"/>
              </a:rPr>
              <a:t>Palavras-chave:  </a:t>
            </a:r>
            <a:r>
              <a:rPr sz="1050" b="0" i="0">
                <a:solidFill>
                  <a:srgbClr val="2B2B2B"/>
                </a:solidFill>
                <a:latin typeface="Arial"/>
                <a:cs typeface="Arial"/>
              </a:rPr>
              <a:t>TSP · Quantum Annealing · Otimização Combinatória · Logística</a:t>
            </a:r>
          </a:p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5254" y="5248656"/>
            <a:ext cx="1994746" cy="868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6112" y="62544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727B"/>
                </a:solidFill>
                <a:latin typeface="Arial"/>
                <a:cs typeface="Arial"/>
              </a:rPr>
              <a:t>XI Seminário de Avaliação de Pesquisa Científica e Tecnológica — SAPCT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235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O que vamos percorrer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74519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74519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020823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441447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841"/>
                </a:solidFill>
                <a:latin typeface="Arial"/>
                <a:cs typeface="Arial"/>
              </a:rPr>
              <a:t>O desafio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770631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7B"/>
                </a:solidFill>
                <a:latin typeface="Arial"/>
                <a:cs typeface="Arial"/>
              </a:rPr>
              <a:t>TSP e a otimização de rotas em logística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874519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1874519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2020823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441447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841"/>
                </a:solidFill>
                <a:latin typeface="Arial"/>
                <a:cs typeface="Arial"/>
              </a:rPr>
              <a:t>A promessa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770631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7B"/>
                </a:solidFill>
                <a:latin typeface="Arial"/>
                <a:cs typeface="Arial"/>
              </a:rPr>
              <a:t>Computação quântica e Quantum Annealing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2" y="1874519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11312" y="1874519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6" y="2020823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2441447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841"/>
                </a:solidFill>
                <a:latin typeface="Arial"/>
                <a:cs typeface="Arial"/>
              </a:rPr>
              <a:t>Objetivo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2770631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7B"/>
                </a:solidFill>
                <a:latin typeface="Arial"/>
                <a:cs typeface="Arial"/>
              </a:rPr>
              <a:t>A pergunta que orienta a revisão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" y="3630167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" y="3630167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76471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197095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841"/>
                </a:solidFill>
                <a:latin typeface="Arial"/>
                <a:cs typeface="Arial"/>
              </a:rPr>
              <a:t>Metodologia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526279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7B"/>
                </a:solidFill>
                <a:latin typeface="Arial"/>
                <a:cs typeface="Arial"/>
              </a:rPr>
              <a:t>Como a literatura foi mapeada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07408" y="3630167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07408" y="3630167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2" y="3776471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4197095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841"/>
                </a:solidFill>
                <a:latin typeface="Arial"/>
                <a:cs typeface="Arial"/>
              </a:rPr>
              <a:t>Resultados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4526279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7B"/>
                </a:solidFill>
                <a:latin typeface="Arial"/>
                <a:cs typeface="Arial"/>
              </a:rPr>
              <a:t>Panorama, paradigmas e algoritmos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11312" y="3630167"/>
            <a:ext cx="3529584" cy="148132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11312" y="3630167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49056" y="3776471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D3DDE7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49056" y="4197095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2841"/>
                </a:solidFill>
                <a:latin typeface="Arial"/>
                <a:cs typeface="Arial"/>
              </a:rPr>
              <a:t>Lacunas &amp; rumos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4526279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7B"/>
                </a:solidFill>
                <a:latin typeface="Arial"/>
                <a:cs typeface="Arial"/>
              </a:rPr>
              <a:t>Oportunidades e próximas etapas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O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235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TSP: um problema NP-Hard no coração da logística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783080"/>
            <a:ext cx="5175504" cy="370332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783080"/>
            <a:ext cx="5175504" cy="6400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7510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Arial"/>
                <a:cs typeface="Arial"/>
              </a:rPr>
              <a:t>O Problema do Caixeiro Viajante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95728"/>
            <a:ext cx="46634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350" b="0" i="0">
                <a:solidFill>
                  <a:srgbClr val="2B2B2B"/>
                </a:solidFill>
                <a:latin typeface="Arial"/>
                <a:cs typeface="Arial"/>
              </a:rPr>
              <a:t>Determinar a rota de menor custo que visite um conjunto de cidades exatamente uma vez e retorne à origem.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350" b="0" i="0">
                <a:solidFill>
                  <a:srgbClr val="2B2B2B"/>
                </a:solidFill>
                <a:latin typeface="Arial"/>
                <a:cs typeface="Arial"/>
              </a:rPr>
              <a:t>Classificado como NP-Hard — o esforço computacional cresce explosivamente com o número de cidades.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350" b="0" i="0">
                <a:solidFill>
                  <a:srgbClr val="2B2B2B"/>
                </a:solidFill>
                <a:latin typeface="Arial"/>
                <a:cs typeface="Arial"/>
              </a:rPr>
              <a:t>Grande relevância prática: a otimização de rotas de entrega impacta diretamente custos operacionais e eficiência.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783080"/>
            <a:ext cx="5550408" cy="370332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783080"/>
            <a:ext cx="5550408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97510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Da teoria ao chão logístico: o TSPTW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95728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5B7FB5"/>
                </a:solidFill>
                <a:latin typeface="Arial"/>
                <a:cs typeface="Arial"/>
              </a:rPr>
              <a:t>▪  </a:t>
            </a:r>
            <a:r>
              <a:rPr sz="1350" b="0" i="0">
                <a:solidFill>
                  <a:srgbClr val="DDE6EF"/>
                </a:solidFill>
                <a:latin typeface="Arial"/>
                <a:cs typeface="Arial"/>
              </a:rPr>
              <a:t>O TSP com Janelas de Tempo (TSPTW) incorpora restrições temporais de atendimento a cada cidade.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5B7FB5"/>
                </a:solidFill>
                <a:latin typeface="Arial"/>
                <a:cs typeface="Arial"/>
              </a:rPr>
              <a:t>▪  </a:t>
            </a:r>
            <a:r>
              <a:rPr sz="1350" b="0" i="0">
                <a:solidFill>
                  <a:srgbClr val="DDE6EF"/>
                </a:solidFill>
                <a:latin typeface="Arial"/>
                <a:cs typeface="Arial"/>
              </a:rPr>
              <a:t>Aproxima o modelo de cenários reais como distribuição urbana e roteamento de veículos.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5B7FB5"/>
                </a:solidFill>
                <a:latin typeface="Arial"/>
                <a:cs typeface="Arial"/>
              </a:rPr>
              <a:t>▪  </a:t>
            </a:r>
            <a:r>
              <a:rPr sz="1350" b="0" i="0">
                <a:solidFill>
                  <a:srgbClr val="DDE6EF"/>
                </a:solidFill>
                <a:latin typeface="Arial"/>
                <a:cs typeface="Arial"/>
              </a:rPr>
              <a:t>Variantes correlatas também relevantes: VRP, CVRP, Job Shop Scheduling e Bin Packing.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84632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B7FB5"/>
                </a:solidFill>
                <a:latin typeface="Arial"/>
                <a:cs typeface="Arial"/>
              </a:rPr>
              <a:t>“Métodos clássicos enfrentam limites práticos à medida que as instâncias crescem.”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A PROMESSA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235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Quantum Annealing: explorar soluções de outra forma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74519"/>
            <a:ext cx="2615184" cy="23957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2066543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66543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70048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Arial"/>
                <a:cs typeface="Arial"/>
              </a:rPr>
              <a:t>Computação quântica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27B"/>
                </a:solidFill>
                <a:latin typeface="Arial"/>
                <a:cs typeface="Arial"/>
              </a:rPr>
              <a:t>Explora o espaço de soluções de problemas combinatórios de forma mais eficiente que métodos clássicos.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432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B7FB5"/>
                </a:solidFill>
                <a:latin typeface="Arial"/>
                <a:cs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9856" y="1874519"/>
            <a:ext cx="2615184" cy="23957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9312" y="2066543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2066543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670048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Arial"/>
                <a:cs typeface="Arial"/>
              </a:rPr>
              <a:t>Quantum Annealing (QA)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20040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27B"/>
                </a:solidFill>
                <a:latin typeface="Arial"/>
                <a:cs typeface="Arial"/>
              </a:rPr>
              <a:t>Usa o tunelamento quântico para buscar o estado de menor energia de um sistema.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27432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B7FB5"/>
                </a:solidFill>
                <a:latin typeface="Arial"/>
                <a:cs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874519"/>
            <a:ext cx="2615184" cy="23957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55664" y="2066543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2066543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2670048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Arial"/>
                <a:cs typeface="Arial"/>
              </a:rPr>
              <a:t>Formulação QUBO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320040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27B"/>
                </a:solidFill>
                <a:latin typeface="Arial"/>
                <a:cs typeface="Arial"/>
              </a:rPr>
              <a:t>O problema é codificado como Quadratic Unconstrained Binary Optimization (QUBO / Ising).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27432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5B7FB5"/>
                </a:solidFill>
                <a:latin typeface="Arial"/>
                <a:cs typeface="Arial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1874519"/>
            <a:ext cx="2615184" cy="239572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72016" y="2066543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2016" y="2066543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6" y="2670048"/>
            <a:ext cx="2194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Arial"/>
                <a:cs typeface="Arial"/>
              </a:rPr>
              <a:t>Hardware D-Wave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6" y="320040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27B"/>
                </a:solidFill>
                <a:latin typeface="Arial"/>
                <a:cs typeface="Arial"/>
              </a:rPr>
              <a:t>QUBO é resolvido em processadores quânticos dedicados, como os da plataforma D-Wave.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" y="4498848"/>
            <a:ext cx="10981944" cy="987552"/>
          </a:xfrm>
          <a:prstGeom prst="roundRect">
            <a:avLst>
              <a:gd name="adj" fmla="val 10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498848"/>
            <a:ext cx="1042416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B7FB5"/>
                </a:solidFill>
                <a:latin typeface="Arial"/>
                <a:cs typeface="Arial"/>
              </a:rPr>
              <a:t>Referência-chave   </a:t>
            </a:r>
            <a:r>
              <a:rPr sz="1250" b="0" i="0">
                <a:solidFill>
                  <a:srgbClr val="FFFFFF"/>
                </a:solidFill>
                <a:latin typeface="Arial"/>
                <a:cs typeface="Arial"/>
              </a:rPr>
              <a:t>Salehi, Glos e Miszczak (2022) propuseram três formulações QUBO para o TSPTW, demonstrando a viabilidade de codificar variantes realistas do problema em dispositivos de quantum annealing.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235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A pergunta que orienta a revisão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28800"/>
            <a:ext cx="10981944" cy="1188720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28800"/>
            <a:ext cx="82296" cy="1188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828800"/>
            <a:ext cx="102412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E2841"/>
                </a:solidFill>
                <a:latin typeface="Arial"/>
                <a:cs typeface="Arial"/>
              </a:rPr>
              <a:t>Qual o panorama atual da aplicação de algoritmos quânticos — com ênfase em Quantum Annealing — ao TSP e suas variantes em logística?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3101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5C8A"/>
                </a:solidFill>
                <a:latin typeface="Arial"/>
                <a:cs typeface="Arial"/>
              </a:rPr>
              <a:t>Para responder, a revisão busca identificar: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3749039"/>
            <a:ext cx="3529584" cy="1700784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" y="3749039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931920"/>
            <a:ext cx="30723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56082"/>
                </a:solidFill>
                <a:latin typeface="Arial"/>
                <a:cs typeface="Arial"/>
              </a:rPr>
              <a:t>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334256"/>
            <a:ext cx="30723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O volume de produção acadêmica sobre o tema.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9684" y="3749039"/>
            <a:ext cx="3529584" cy="1700784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9684" y="3749039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5716" y="3931920"/>
            <a:ext cx="30723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56082"/>
                </a:solidFill>
                <a:latin typeface="Arial"/>
                <a:cs typeface="Arial"/>
              </a:rPr>
              <a:t>ALGORITMOS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5716" y="4334256"/>
            <a:ext cx="30723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Os algoritmos e paradigmas quânticos mais utilizados.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5864" y="3749039"/>
            <a:ext cx="3529584" cy="1700784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5864" y="3749039"/>
            <a:ext cx="3529584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1896" y="3931920"/>
            <a:ext cx="30723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56082"/>
                </a:solidFill>
                <a:latin typeface="Arial"/>
                <a:cs typeface="Arial"/>
              </a:rPr>
              <a:t>LACUNAS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4334256"/>
            <a:ext cx="30723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As lacunas de pesquisa ainda existentes.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235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Como a literatura foi mapeada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556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5C8A"/>
                </a:solidFill>
                <a:latin typeface="Arial"/>
                <a:cs typeface="Arial"/>
              </a:rPr>
              <a:t>Pesquisa bibliográfica exploratória em três eixos temáticos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121408"/>
            <a:ext cx="5440680" cy="658368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" y="2121408"/>
            <a:ext cx="64008" cy="65836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121408"/>
            <a:ext cx="162763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841"/>
                </a:solidFill>
                <a:latin typeface="Arial"/>
                <a:cs typeface="Arial"/>
              </a:rPr>
              <a:t>1 · O problema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121408"/>
            <a:ext cx="3383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 i="0">
                <a:solidFill>
                  <a:srgbClr val="6B727B"/>
                </a:solidFill>
                <a:latin typeface="Arial"/>
                <a:cs typeface="Arial"/>
              </a:rPr>
              <a:t>TSP e variantes — VRP, CVRP, Job Shop Scheduling e Bin Packing.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2880360"/>
            <a:ext cx="5440680" cy="658368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" y="2880360"/>
            <a:ext cx="64008" cy="65836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2880360"/>
            <a:ext cx="162763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841"/>
                </a:solidFill>
                <a:latin typeface="Arial"/>
                <a:cs typeface="Arial"/>
              </a:rPr>
              <a:t>2 · A tecnologia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2880360"/>
            <a:ext cx="3383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 i="0">
                <a:solidFill>
                  <a:srgbClr val="6B727B"/>
                </a:solidFill>
                <a:latin typeface="Arial"/>
                <a:cs typeface="Arial"/>
              </a:rPr>
              <a:t>Paradigmas quânticos — QA, QAOA, VQE, Grover e formulações QUBO/Ising.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3639312"/>
            <a:ext cx="5440680" cy="658368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" y="3639312"/>
            <a:ext cx="64008" cy="65836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639312"/>
            <a:ext cx="162763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841"/>
                </a:solidFill>
                <a:latin typeface="Arial"/>
                <a:cs typeface="Arial"/>
              </a:rPr>
              <a:t>3 · A aplicação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3639312"/>
            <a:ext cx="3383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60" b="0" i="0">
                <a:solidFill>
                  <a:srgbClr val="6B727B"/>
                </a:solidFill>
                <a:latin typeface="Arial"/>
                <a:cs typeface="Arial"/>
              </a:rPr>
              <a:t>Logística, gestão da cadeia de suprimentos e otimização de rotas.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452628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150" b="0" i="0">
                <a:solidFill>
                  <a:srgbClr val="2B2B2B"/>
                </a:solidFill>
                <a:latin typeface="Arial"/>
                <a:cs typeface="Arial"/>
              </a:rPr>
              <a:t>26 strings de busca (operador AND) na base Lens.org — filtro Scholarly Works.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150" b="0" i="0">
                <a:solidFill>
                  <a:srgbClr val="2B2B2B"/>
                </a:solidFill>
                <a:latin typeface="Arial"/>
                <a:cs typeface="Arial"/>
              </a:rPr>
              <a:t>Prioridades: 8 Alta · 10 Média · 8 Baixa; em duas fases (16 strings + 10 derivadas de Phillipson, 2025).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150" b="0" i="0">
                <a:solidFill>
                  <a:srgbClr val="2B2B2B"/>
                </a:solidFill>
                <a:latin typeface="Arial"/>
                <a:cs typeface="Arial"/>
              </a:rPr>
              <a:t>Deduplicação em duas etapas: por DOI e, depois, por título normalizado.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1755648"/>
            <a:ext cx="5413248" cy="404164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strings_busca_01_volume_str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2153412"/>
            <a:ext cx="5266944" cy="29626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199632" y="5449824"/>
            <a:ext cx="5413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6B727B"/>
                </a:solidFill>
                <a:latin typeface="Arial"/>
                <a:cs typeface="Arial"/>
              </a:rPr>
              <a:t>Volume de artigos únicos recuperados por string de busca.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RESULTADOS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235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Um campo de pesquisa em franca expansão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792224"/>
            <a:ext cx="2615184" cy="1188720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1792224"/>
            <a:ext cx="64008" cy="118872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883664"/>
            <a:ext cx="23408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0E2841"/>
                </a:solidFill>
                <a:latin typeface="Arial"/>
                <a:cs typeface="Arial"/>
              </a:rPr>
              <a:t>5.320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14016"/>
            <a:ext cx="23408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7B"/>
                </a:solidFill>
                <a:latin typeface="Arial"/>
                <a:cs typeface="Arial"/>
              </a:rPr>
              <a:t>Registros brutos recuperados nas 26 strings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9856" y="1792224"/>
            <a:ext cx="2615184" cy="1188720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19856" y="1792224"/>
            <a:ext cx="64008" cy="118872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1883664"/>
            <a:ext cx="23408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0E2841"/>
                </a:solidFill>
                <a:latin typeface="Arial"/>
                <a:cs typeface="Arial"/>
              </a:rPr>
              <a:t>3.696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2414016"/>
            <a:ext cx="23408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7B"/>
                </a:solidFill>
                <a:latin typeface="Arial"/>
                <a:cs typeface="Arial"/>
              </a:rPr>
              <a:t>Artigos únicos após deduplicação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792224"/>
            <a:ext cx="2615184" cy="1188720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8" y="1792224"/>
            <a:ext cx="64008" cy="118872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83664"/>
            <a:ext cx="23408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0E2841"/>
                </a:solidFill>
                <a:latin typeface="Arial"/>
                <a:cs typeface="Arial"/>
              </a:rPr>
              <a:t>30,5%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14016"/>
            <a:ext cx="23408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7B"/>
                </a:solidFill>
                <a:latin typeface="Arial"/>
                <a:cs typeface="Arial"/>
              </a:rPr>
              <a:t>Duplicatas removidas (1.624 registros)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792224"/>
            <a:ext cx="2615184" cy="1188720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52560" y="1792224"/>
            <a:ext cx="64008" cy="118872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7152" y="1883664"/>
            <a:ext cx="23408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0E2841"/>
                </a:solidFill>
                <a:latin typeface="Arial"/>
                <a:cs typeface="Arial"/>
              </a:rPr>
              <a:t>61,7%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2414016"/>
            <a:ext cx="23408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7B"/>
                </a:solidFill>
                <a:latin typeface="Arial"/>
                <a:cs typeface="Arial"/>
              </a:rPr>
              <a:t>Publicados a partir de 2020 — pico em 2025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3163824"/>
            <a:ext cx="10981944" cy="267004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1_visao_geral_01_publicacoes_tem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940" y="3236976"/>
            <a:ext cx="4259072" cy="23957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3504" y="5760720"/>
            <a:ext cx="10981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6B727B"/>
                </a:solidFill>
                <a:latin typeface="Arial"/>
                <a:cs typeface="Arial"/>
              </a:rPr>
              <a:t>Publicações ao longo do tempo, por tipo de documento — forte aceleração a partir de 2020.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RESULTADOS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235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Alcance global e ciência aberta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792224"/>
            <a:ext cx="3529584" cy="1097280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" y="1792224"/>
            <a:ext cx="64008" cy="109728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883664"/>
            <a:ext cx="32552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0E2841"/>
                </a:solidFill>
                <a:latin typeface="Arial"/>
                <a:cs typeface="Arial"/>
              </a:rPr>
              <a:t>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322576"/>
            <a:ext cx="3255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7B"/>
                </a:solidFill>
                <a:latin typeface="Arial"/>
                <a:cs typeface="Arial"/>
              </a:rPr>
              <a:t>Países representados na produção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1792224"/>
            <a:ext cx="3529584" cy="1097280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25112" y="1792224"/>
            <a:ext cx="64008" cy="109728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1883664"/>
            <a:ext cx="32552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0E2841"/>
                </a:solidFill>
                <a:latin typeface="Arial"/>
                <a:cs typeface="Arial"/>
              </a:rPr>
              <a:t>1.409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322576"/>
            <a:ext cx="3255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7B"/>
                </a:solidFill>
                <a:latin typeface="Arial"/>
                <a:cs typeface="Arial"/>
              </a:rPr>
              <a:t>Periódicos e conferências distintos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792224"/>
            <a:ext cx="3529584" cy="1097280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1792224"/>
            <a:ext cx="64008" cy="1097280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883664"/>
            <a:ext cx="32552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0E2841"/>
                </a:solidFill>
                <a:latin typeface="Arial"/>
                <a:cs typeface="Arial"/>
              </a:rPr>
              <a:t>82,8%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322576"/>
            <a:ext cx="3255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7B"/>
                </a:solidFill>
                <a:latin typeface="Arial"/>
                <a:cs typeface="Arial"/>
              </a:rPr>
              <a:t>Artigos em acesso aberto (Open Access)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" y="3054096"/>
            <a:ext cx="6345936" cy="2779776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5_geografia_01_mapa_mund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6936" y="3127248"/>
            <a:ext cx="4259072" cy="23957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3504" y="5522976"/>
            <a:ext cx="6345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6B727B"/>
                </a:solidFill>
                <a:latin typeface="Arial"/>
                <a:cs typeface="Arial"/>
              </a:rPr>
              <a:t>Distribuição geográfica das publicações.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77456" y="3054096"/>
            <a:ext cx="4507992" cy="2779776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1_visao_geral_03_open_acc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1916" y="3127248"/>
            <a:ext cx="4259072" cy="23957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77456" y="5522976"/>
            <a:ext cx="4507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6B727B"/>
                </a:solidFill>
                <a:latin typeface="Arial"/>
                <a:cs typeface="Arial"/>
              </a:rPr>
              <a:t>Open Access vs. acesso restrito.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RESULTADOS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235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O paradigma dominante: Quantum Annealing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847088"/>
            <a:ext cx="5394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O Quantum Annealing é o paradigma dominante: mais de 1.200 artigos nas strings diretamente relacionadas.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Hardware de referência — D-Wave Advantage: 5.640 qubits e conectividade Pegasus.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Algoritmos variacionais gate-based (QAOA, VQE) somam ≈ 150 artigos aplicados ao TSP — uma lacuna evidente.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4206240"/>
            <a:ext cx="2615184" cy="1591056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4206240"/>
            <a:ext cx="64008" cy="1591056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297680"/>
            <a:ext cx="23408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0E2841"/>
                </a:solidFill>
                <a:latin typeface="Arial"/>
                <a:cs typeface="Arial"/>
              </a:rPr>
              <a:t>&gt; 1.200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230368"/>
            <a:ext cx="23408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7B"/>
                </a:solidFill>
                <a:latin typeface="Arial"/>
                <a:cs typeface="Arial"/>
              </a:rPr>
              <a:t>Artigos em Quantum Annealing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9856" y="4206240"/>
            <a:ext cx="2578608" cy="1591056"/>
          </a:xfrm>
          <a:prstGeom prst="roundRect">
            <a:avLst>
              <a:gd name="adj" fmla="val 10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19856" y="4206240"/>
            <a:ext cx="64008" cy="1591056"/>
          </a:xfrm>
          <a:prstGeom prst="roundRect">
            <a:avLst>
              <a:gd name="adj" fmla="val 50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4297680"/>
            <a:ext cx="23042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2E5C8A"/>
                </a:solidFill>
                <a:latin typeface="Arial"/>
                <a:cs typeface="Arial"/>
              </a:rPr>
              <a:t>≈ 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5230368"/>
            <a:ext cx="2304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7B"/>
                </a:solidFill>
                <a:latin typeface="Arial"/>
                <a:cs typeface="Arial"/>
              </a:rPr>
              <a:t>Artigos QAOA / VQE aplicados ao TSP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847088"/>
            <a:ext cx="5385816" cy="20116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7_algoritmos_01_paradig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964" y="1901952"/>
            <a:ext cx="3121152" cy="175564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199632" y="3968496"/>
            <a:ext cx="5385816" cy="18288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7_algoritmos_04_algoritmos_frequen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268" y="4023360"/>
            <a:ext cx="2828544" cy="15910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99632" y="5742432"/>
            <a:ext cx="53858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6B727B"/>
                </a:solidFill>
                <a:latin typeface="Arial"/>
                <a:cs typeface="Arial"/>
              </a:rPr>
              <a:t>Amostra de artigos classificados — paradigma (acima) e algoritmos mais frequentes (abaixo).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RESULTADOS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235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Taxonomia de algoritmos e abordagens híbridas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7393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5C8A"/>
                </a:solidFill>
                <a:latin typeface="Arial"/>
                <a:cs typeface="Arial"/>
              </a:rPr>
              <a:t>Mais de 40 algoritmos catalogados → 6 categorias principais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157984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" y="2157984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240280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2841"/>
                </a:solidFill>
                <a:latin typeface="Arial"/>
                <a:cs typeface="Arial"/>
              </a:rPr>
              <a:t>Quantum Annealing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53288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7B"/>
                </a:solidFill>
                <a:latin typeface="Arial"/>
                <a:cs typeface="Arial"/>
              </a:rPr>
              <a:t>D-Wave QA, Hybrid Solver, Reverse Annealing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93008" y="2157984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3008" y="2157984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5888" y="2240280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2841"/>
                </a:solidFill>
                <a:latin typeface="Arial"/>
                <a:cs typeface="Arial"/>
              </a:rPr>
              <a:t>Variacionais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253288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7B"/>
                </a:solidFill>
                <a:latin typeface="Arial"/>
                <a:cs typeface="Arial"/>
              </a:rPr>
              <a:t>QAOA, VQE, F-VQE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3054096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" y="3054096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136392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2841"/>
                </a:solidFill>
                <a:latin typeface="Arial"/>
                <a:cs typeface="Arial"/>
              </a:rPr>
              <a:t>Exatos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4290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7B"/>
                </a:solidFill>
                <a:latin typeface="Arial"/>
                <a:cs typeface="Arial"/>
              </a:rPr>
              <a:t>Grover, QPE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93008" y="3054096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93008" y="3054096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5888" y="3136392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2841"/>
                </a:solidFill>
                <a:latin typeface="Arial"/>
                <a:cs typeface="Arial"/>
              </a:rPr>
              <a:t>Híbridos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8" y="34290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7B"/>
                </a:solidFill>
                <a:latin typeface="Arial"/>
                <a:cs typeface="Arial"/>
              </a:rPr>
              <a:t>Decomposição + QA, path-slicing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3950208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" y="3950208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032504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2841"/>
                </a:solidFill>
                <a:latin typeface="Arial"/>
                <a:cs typeface="Arial"/>
              </a:rPr>
              <a:t>QML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43251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7B"/>
                </a:solidFill>
                <a:latin typeface="Arial"/>
                <a:cs typeface="Arial"/>
              </a:rPr>
              <a:t>Quantum RL, QACO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93008" y="3950208"/>
            <a:ext cx="2743200" cy="76809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93008" y="3950208"/>
            <a:ext cx="64008" cy="7680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5888" y="4032504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2841"/>
                </a:solidFill>
                <a:latin typeface="Arial"/>
                <a:cs typeface="Arial"/>
              </a:rPr>
              <a:t>Quantum-inspired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75888" y="43251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7B"/>
                </a:solidFill>
                <a:latin typeface="Arial"/>
                <a:cs typeface="Arial"/>
              </a:rPr>
              <a:t>Heurísticas inspiradas no quântico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" y="4956048"/>
            <a:ext cx="5632704" cy="841248"/>
          </a:xfrm>
          <a:prstGeom prst="roundRect">
            <a:avLst>
              <a:gd name="adj" fmla="val 12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4956048"/>
            <a:ext cx="5212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cs typeface="Arial"/>
              </a:rPr>
              <a:t>A maioria das implementações adota abordagens híbridas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B7FB5"/>
                </a:solidFill>
                <a:latin typeface="Arial"/>
                <a:cs typeface="Arial"/>
              </a:rPr>
              <a:t>processamento quântico combinado com solvers clássicos.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1773936"/>
            <a:ext cx="5184648" cy="402336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07_algoritmos_02_abordag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213134"/>
            <a:ext cx="5038344" cy="283406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00800" y="5431536"/>
            <a:ext cx="5184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6B727B"/>
                </a:solidFill>
                <a:latin typeface="Arial"/>
                <a:cs typeface="Arial"/>
              </a:rPr>
              <a:t>Distribuição por abordagem na amostra classificada — predomínio de soluções híbridas.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LACUNAS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235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Onde estão as oportunidades de pesquisa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7556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5C8A"/>
                </a:solidFill>
                <a:latin typeface="Arial"/>
                <a:cs typeface="Arial"/>
              </a:rPr>
              <a:t>Quatro lacunas se destacam — e apontam direções promissoras para trabalhos futuros: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2249424"/>
            <a:ext cx="2615184" cy="30175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2249424"/>
            <a:ext cx="2615184" cy="786384"/>
          </a:xfrm>
          <a:prstGeom prst="roundRect">
            <a:avLst>
              <a:gd name="adj" fmla="val 22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2670048"/>
            <a:ext cx="2615184" cy="3657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249424"/>
            <a:ext cx="26151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Gate-based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163824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56082"/>
                </a:solidFill>
                <a:latin typeface="Arial"/>
                <a:cs typeface="Arial"/>
              </a:rPr>
              <a:t>Escassas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767328"/>
            <a:ext cx="21396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  <a:cs typeface="Arial"/>
              </a:rPr>
              <a:t>Falta de soluções QAOA/VQE com escalabilidade demonstrada para o TSP.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9856" y="2249424"/>
            <a:ext cx="2615184" cy="30175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19856" y="2249424"/>
            <a:ext cx="2615184" cy="786384"/>
          </a:xfrm>
          <a:prstGeom prst="roundRect">
            <a:avLst>
              <a:gd name="adj" fmla="val 22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9856" y="2670048"/>
            <a:ext cx="2615184" cy="3657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249424"/>
            <a:ext cx="26151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QRL p/ roteamento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3163824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56082"/>
                </a:solidFill>
                <a:latin typeface="Arial"/>
                <a:cs typeface="Arial"/>
              </a:rPr>
              <a:t>21 artigos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767328"/>
            <a:ext cx="21396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  <a:cs typeface="Arial"/>
              </a:rPr>
              <a:t>Quantum Reinforcement Learning para roteamento é área emergente e pouco explorada.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2249424"/>
            <a:ext cx="2615184" cy="30175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6208" y="2249424"/>
            <a:ext cx="2615184" cy="786384"/>
          </a:xfrm>
          <a:prstGeom prst="roundRect">
            <a:avLst>
              <a:gd name="adj" fmla="val 22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2670048"/>
            <a:ext cx="2615184" cy="3657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2249424"/>
            <a:ext cx="26151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CVRP com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3163824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56082"/>
                </a:solidFill>
                <a:latin typeface="Arial"/>
                <a:cs typeface="Arial"/>
              </a:rPr>
              <a:t>18 artigos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3767328"/>
            <a:ext cx="21396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  <a:cs typeface="Arial"/>
              </a:rPr>
              <a:t>Aplicação logística direta do Quantum Annealing ao CVRP ainda pouco investigada.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2249424"/>
            <a:ext cx="2615184" cy="30175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52560" y="2249424"/>
            <a:ext cx="2615184" cy="786384"/>
          </a:xfrm>
          <a:prstGeom prst="roundRect">
            <a:avLst>
              <a:gd name="adj" fmla="val 22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52560" y="2670048"/>
            <a:ext cx="2615184" cy="3657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0" y="2249424"/>
            <a:ext cx="26151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Dados reais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163824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56082"/>
                </a:solidFill>
                <a:latin typeface="Arial"/>
                <a:cs typeface="Arial"/>
              </a:rPr>
              <a:t>Limitada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0304" y="3767328"/>
            <a:ext cx="21396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Arial"/>
                <a:cs typeface="Arial"/>
              </a:rPr>
              <a:t>Validação com dados logísticos reais — predominam benchmarks acadêmicos.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544982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27B"/>
                </a:solidFill>
                <a:latin typeface="Arial"/>
                <a:cs typeface="Arial"/>
              </a:rPr>
              <a:t>Também persiste o desafio de demonstrar escalabilidade frente às limitações do hardware NISQ.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235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Considerações finais e próximas etapas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810512"/>
            <a:ext cx="5449824" cy="404164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810512"/>
            <a:ext cx="5449824" cy="6400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Arial"/>
                <a:cs typeface="Arial"/>
              </a:rPr>
              <a:t>O que a revisão mostrou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32304"/>
            <a:ext cx="49377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Campo em rápida expansão, sustentado por uma base robusta de 3.696 artigos únicos.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O Quantum Annealing é o paradigma mais maduro e acessível para otimização combinatória.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Algoritmos variacionais e de aprendizado de máquina quântico são fronteiras ainda pouco exploradas.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 i="0">
                <a:solidFill>
                  <a:srgbClr val="156082"/>
                </a:solidFill>
                <a:latin typeface="Arial"/>
                <a:cs typeface="Arial"/>
              </a:rPr>
              <a:t>▪  </a:t>
            </a: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As lacunas identificadas são oportunidades concretas de contribuição científica.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810512"/>
            <a:ext cx="5440680" cy="4041648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810512"/>
            <a:ext cx="5440680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99339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Próximas etapas da pesquisa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2505456"/>
            <a:ext cx="493776" cy="49377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250545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2468880"/>
            <a:ext cx="4297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2E9F1"/>
                </a:solidFill>
                <a:latin typeface="Arial"/>
                <a:cs typeface="Arial"/>
              </a:rPr>
              <a:t>Fundamentação teórica aprofundada do tema.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3566160"/>
            <a:ext cx="493776" cy="49377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56616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6" y="3529584"/>
            <a:ext cx="4297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2E9F1"/>
                </a:solidFill>
                <a:latin typeface="Arial"/>
                <a:cs typeface="Arial"/>
              </a:rPr>
              <a:t>Seleção e reprodução de algoritmos em simuladores quânticos.</a:t>
            </a:r>
          </a:p>
        </p:txBody>
      </p:sp>
      <p:sp>
        <p:nvSpPr>
          <p:cNvPr id="24" name="Oval 23"/>
          <p:cNvSpPr/>
          <p:nvPr/>
        </p:nvSpPr>
        <p:spPr>
          <a:xfrm>
            <a:off x="6419088" y="4626864"/>
            <a:ext cx="493776" cy="493776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462686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4590288"/>
            <a:ext cx="4297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2E9F1"/>
                </a:solidFill>
                <a:latin typeface="Arial"/>
                <a:cs typeface="Arial"/>
              </a:rPr>
              <a:t>Comparação experimental entre abordagens clássicas e quânticas para instâncias do TSP em contexto logístico.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01168" cy="274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6082"/>
                </a:solidFill>
                <a:latin typeface="Arial"/>
                <a:cs typeface="Arial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92354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E2841"/>
                </a:solidFill>
                <a:latin typeface="Arial"/>
                <a:cs typeface="Arial"/>
              </a:rPr>
              <a:t>Referências e agradecimentos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444752"/>
            <a:ext cx="868680" cy="431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688" y="316912"/>
            <a:ext cx="1627632" cy="920656"/>
          </a:xfrm>
          <a:prstGeom prst="rect">
            <a:avLst/>
          </a:prstGeom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891" y="6272784"/>
            <a:ext cx="1091861" cy="475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6437376"/>
            <a:ext cx="6949440" cy="203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6B727B"/>
                </a:solidFill>
                <a:latin typeface="Arial"/>
                <a:cs typeface="Arial"/>
              </a:rPr>
              <a:t>XI SAPCT  ·  SENAI CIMATEC  ·  Salvador-BA  ·  28 e 29 de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37376"/>
            <a:ext cx="777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E5C8A"/>
                </a:solidFill>
                <a:latin typeface="Arial"/>
                <a:cs typeface="Arial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792224"/>
            <a:ext cx="6903720" cy="404164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" y="1792224"/>
            <a:ext cx="6903720" cy="6400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56816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Arial"/>
                <a:cs typeface="Arial"/>
              </a:rPr>
              <a:t>Principais referências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359152"/>
            <a:ext cx="64465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050" b="1" i="0">
                <a:solidFill>
                  <a:srgbClr val="156082"/>
                </a:solidFill>
                <a:latin typeface="Arial"/>
                <a:cs typeface="Arial"/>
              </a:rPr>
              <a:t>1.  </a:t>
            </a:r>
            <a:r>
              <a:rPr sz="1050" b="0" i="0">
                <a:solidFill>
                  <a:srgbClr val="2B2B2B"/>
                </a:solidFill>
                <a:latin typeface="Arial"/>
                <a:cs typeface="Arial"/>
              </a:rPr>
              <a:t>APPLEGATE, D. L. et al. The Traveling Salesman Problem: a computational study. Princeton: Princeton University Press, 2006.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050" b="1" i="0">
                <a:solidFill>
                  <a:srgbClr val="156082"/>
                </a:solidFill>
                <a:latin typeface="Arial"/>
                <a:cs typeface="Arial"/>
              </a:rPr>
              <a:t>2.  </a:t>
            </a:r>
            <a:r>
              <a:rPr sz="1050" b="0" i="0">
                <a:solidFill>
                  <a:srgbClr val="2B2B2B"/>
                </a:solidFill>
                <a:latin typeface="Arial"/>
                <a:cs typeface="Arial"/>
              </a:rPr>
              <a:t>KADOWAKI, T.; NISHIMORI, H. Quantum annealing in the Transverse Ising model. Physical Review E, v. 58, n. 5, p. 5355-5363, 1998.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050" b="1" i="0">
                <a:solidFill>
                  <a:srgbClr val="156082"/>
                </a:solidFill>
                <a:latin typeface="Arial"/>
                <a:cs typeface="Arial"/>
              </a:rPr>
              <a:t>3.  </a:t>
            </a:r>
            <a:r>
              <a:rPr sz="1050" b="0" i="0">
                <a:solidFill>
                  <a:srgbClr val="2B2B2B"/>
                </a:solidFill>
                <a:latin typeface="Arial"/>
                <a:cs typeface="Arial"/>
              </a:rPr>
              <a:t>SALEHI, Ö.; GLOS, A.; MISZCZAK, J. A. Unconstrained binary models of the travelling salesman problem variants for quantum optimization. Quantum Information Processing, v. 21, n. 67, 2022.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050" b="1" i="0">
                <a:solidFill>
                  <a:srgbClr val="156082"/>
                </a:solidFill>
                <a:latin typeface="Arial"/>
                <a:cs typeface="Arial"/>
              </a:rPr>
              <a:t>4.  </a:t>
            </a:r>
            <a:r>
              <a:rPr sz="1050" b="0" i="0">
                <a:solidFill>
                  <a:srgbClr val="2B2B2B"/>
                </a:solidFill>
                <a:latin typeface="Arial"/>
                <a:cs typeface="Arial"/>
              </a:rPr>
              <a:t>PHILLIPSON, F. Quantum Computing in Logistics and Supply Chain Management: an overview. Maastricht University / TNO, 2025.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050" b="1" i="0">
                <a:solidFill>
                  <a:srgbClr val="156082"/>
                </a:solidFill>
                <a:latin typeface="Arial"/>
                <a:cs typeface="Arial"/>
              </a:rPr>
              <a:t>5.  </a:t>
            </a:r>
            <a:r>
              <a:rPr sz="1050" b="0" i="0">
                <a:solidFill>
                  <a:srgbClr val="2B2B2B"/>
                </a:solidFill>
                <a:latin typeface="Arial"/>
                <a:cs typeface="Arial"/>
              </a:rPr>
              <a:t>FARHI, E.; GOLDSTONE, J.; GUTMANN, S. A quantum approximate optimization algorithm. arXiv preprint arXiv:1411.4028, 2014.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792224"/>
            <a:ext cx="3904487" cy="4041648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1792224"/>
            <a:ext cx="3904487" cy="6400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1956816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Agradecimentos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2395728"/>
            <a:ext cx="3456432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DDE6EF"/>
                </a:solidFill>
                <a:latin typeface="Arial"/>
                <a:cs typeface="Arial"/>
              </a:rPr>
              <a:t>Trabalho parcialmente financiado pelo projeto QuIIN FCRH Mestrado TQ, suportado pelo QuIIN — Quantum Industrial Innovation, Centro de Competência EMBRAPII CIMATEC em Tecnologias Quânticas.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DDE6EF"/>
                </a:solidFill>
                <a:latin typeface="Arial"/>
                <a:cs typeface="Arial"/>
              </a:rPr>
              <a:t>Recursos do PPI IoT/Manufatura 4.0 do MCTI, via Termo de Cooperação 053/2023 com a EMBRAPII.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DDE6EF"/>
                </a:solidFill>
                <a:latin typeface="Arial"/>
                <a:cs typeface="Arial"/>
              </a:rPr>
              <a:t>Apoio adicional do CNPq — Conselho Nacional de Desenvolvimento Científico e Tecnológico.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713232"/>
            <a:ext cx="2344027" cy="1325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6112" y="246888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Arial"/>
                <a:cs typeface="Arial"/>
              </a:rPr>
              <a:t>Obrigado!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529584"/>
            <a:ext cx="1051560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712463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5B7FB5"/>
                </a:solidFill>
                <a:latin typeface="Arial"/>
                <a:cs typeface="Arial"/>
              </a:rPr>
              <a:t>Aplicação de Quantum Annealing ao Problema do Caixeiro Viajante: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B9C6D6"/>
                </a:solidFill>
                <a:latin typeface="Arial"/>
                <a:cs typeface="Arial"/>
              </a:rPr>
              <a:t>revisão exploratória da literatura em logística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73659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cs typeface="Arial"/>
              </a:rPr>
              <a:t>Renan Cardoso dos Santos</a:t>
            </a:r>
            <a:r>
              <a:rPr sz="1250" b="0" i="0">
                <a:solidFill>
                  <a:srgbClr val="B9C6D6"/>
                </a:solidFill>
                <a:latin typeface="Arial"/>
                <a:cs typeface="Arial"/>
              </a:rPr>
              <a:t>   ·   Valéria Loureiro da Silva   ·   Anderson Rafael Correia B. da Silva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17550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6082"/>
                </a:solidFill>
                <a:latin typeface="Arial"/>
                <a:cs typeface="Arial"/>
              </a:rPr>
              <a:t>✉  </a:t>
            </a:r>
            <a:r>
              <a:rPr sz="1250" b="0" i="0">
                <a:solidFill>
                  <a:srgbClr val="5B7FB5"/>
                </a:solidFill>
                <a:latin typeface="Arial"/>
                <a:cs typeface="Arial"/>
              </a:rPr>
              <a:t>renan.santos@fbter.org.br</a:t>
            </a:r>
            <a:r>
              <a:rPr sz="1150" b="0" i="0">
                <a:solidFill>
                  <a:srgbClr val="8F9FB3"/>
                </a:solidFill>
                <a:latin typeface="Arial"/>
                <a:cs typeface="Arial"/>
              </a:rPr>
              <a:t>        Universidade SENAI CIMATEC · Salvador-BA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382512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cs typeface="Arial"/>
              </a:rPr>
              <a:t>XI SAPCT — SENAI CIMATEC · 28 e 29 de Maio de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10928" y="6327648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104" y="6364224"/>
            <a:ext cx="881888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m xmlns="f669e5db-8216-4767-8765-5c106c935a63" xsi:nil="true"/>
    <lcf76f155ced4ddcb4097134ff3c332f xmlns="f669e5db-8216-4767-8765-5c106c935a63">
      <Terms xmlns="http://schemas.microsoft.com/office/infopath/2007/PartnerControls"/>
    </lcf76f155ced4ddcb4097134ff3c332f>
    <TaxCatchAll xmlns="61ed00d3-b95b-49cb-aaac-c4e788828f5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E3559D24A189843A705DCAFAEC0B137" ma:contentTypeVersion="20" ma:contentTypeDescription="Crie um novo documento." ma:contentTypeScope="" ma:versionID="289f59ee561973bc3c454ec41fafdc64">
  <xsd:schema xmlns:xsd="http://www.w3.org/2001/XMLSchema" xmlns:xs="http://www.w3.org/2001/XMLSchema" xmlns:p="http://schemas.microsoft.com/office/2006/metadata/properties" xmlns:ns2="f669e5db-8216-4767-8765-5c106c935a63" xmlns:ns3="61ed00d3-b95b-49cb-aaac-c4e788828f5e" targetNamespace="http://schemas.microsoft.com/office/2006/metadata/properties" ma:root="true" ma:fieldsID="79f8c8b4fa28edb900d0ffcf62de8357" ns2:_="" ns3:_="">
    <xsd:import namespace="f669e5db-8216-4767-8765-5c106c935a63"/>
    <xsd:import namespace="61ed00d3-b95b-49cb-aaac-c4e788828f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Imagem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69e5db-8216-4767-8765-5c106c935a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Imagem" ma:index="25" nillable="true" ma:displayName="Imagem" ma:format="Thumbnail" ma:internalName="Imagem">
      <xsd:simpleType>
        <xsd:restriction base="dms:Unknown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ed00d3-b95b-49cb-aaac-c4e788828f5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d45363e-5cca-49ed-baa5-6f84b8176714}" ma:internalName="TaxCatchAll" ma:showField="CatchAllData" ma:web="61ed00d3-b95b-49cb-aaac-c4e788828f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5CF3D6-8C26-47CB-8222-E12500FF1D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002501-C2A4-428D-9DC2-3E13F3023614}">
  <ds:schemaRefs>
    <ds:schemaRef ds:uri="http://schemas.microsoft.com/office/2006/metadata/properties"/>
    <ds:schemaRef ds:uri="http://schemas.microsoft.com/office/infopath/2007/PartnerControls"/>
    <ds:schemaRef ds:uri="f669e5db-8216-4767-8765-5c106c935a63"/>
    <ds:schemaRef ds:uri="61ed00d3-b95b-49cb-aaac-c4e788828f5e"/>
  </ds:schemaRefs>
</ds:datastoreItem>
</file>

<file path=customXml/itemProps3.xml><?xml version="1.0" encoding="utf-8"?>
<ds:datastoreItem xmlns:ds="http://schemas.openxmlformats.org/officeDocument/2006/customXml" ds:itemID="{3606E40D-7C12-4F7C-AB5A-F4C231350D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69e5db-8216-4767-8765-5c106c935a63"/>
    <ds:schemaRef ds:uri="61ed00d3-b95b-49cb-aaac-c4e788828f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Gabriel Lauria da Cruz</dc:creator>
  <cp:lastModifiedBy>Eduardo Augusto Almeida Bastos</cp:lastModifiedBy>
  <cp:revision>2</cp:revision>
  <dcterms:modified xsi:type="dcterms:W3CDTF">2026-02-12T12:22:21Z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0x0101006E3559D24A189843A705DCAFAEC0B137</vt:lpwstr>
  </property>
  <property fmtid="{D5CDD505-2E9C-101B-9397-08002B2CF9AE}" pid="3" name="MediaServiceImageTags">
    <vt:lpwstr/>
  </property>
</Properties>
</file>